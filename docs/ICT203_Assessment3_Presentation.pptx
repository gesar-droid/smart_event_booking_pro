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 are presenting Smart Event Booking Pro, our ICT203 full-stack web application with responsible AI integration. The project is designed for a local event organiser. It allows users to browse events and request tickets, while administrators manage events, bookings, users and system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scenario. We selected the local event organiser option because it clearly fits an event and booking workflow. The problem is that manual event booking can be slow and inaccurate. Our system solves this by keeping event data, user accounts, bookings and admin actions in a structured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show the main solution. Standard users can register, log in, browse events and submit booking requests. The database stores users, events, bookings, activity logs and AI suggestions. Admin users manage the records and maintain the system. This directly covers the assessment's must-have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our technical design. The architecture has three main parts: the client browser, PHP backend and MySQL database. The ERD shows the main tables. Users can create bookings, events can receive many bookings, and logs provide auditability. This design keeps the system simple, maintainable and suitable for XAMPP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we should not click randomly. We should follow this order: login, admin dashboard, event management, user booking, and AI Help Assistant. While showing login, explain that passwords are not stored as plain text. While showing event CRUD, explain validation and prepared statements. While showing booking, explain the real business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major marking area. Our system applies password hashing, session handling, admin role checks, prepared statements, validation and activity logs. The AI feature also has safety controls. We keep AI low-risk by using curated FAQ content and adding a human review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required AI integration is the Smart Help Assistant. It is low risk because it answers only system-use questions using curated FAQ content. The important governance points are human review, no sensitive data in public AI tools, clear disclaimer, logging of accepted suggestions and scope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the presentation, explain the testing and teamwork evidence. We have a complete documentation pack and a clear submission structure. End by saying that the project meets the full-stack, security, testing and responsible AI requirements for ICT203 Assessment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AF4FF"/>
        </a:solidFill>
      </p:bgPr>
    </p:bg>
    <p:spTree>
      <p:nvGrpSpPr>
        <p:cNvPr id="1" name=""/>
        <p:cNvGrpSpPr/>
        <p:nvPr/>
      </p:nvGrpSpPr>
      <p:grpSpPr>
        <a:xfrm>
          <a:off x="0" y="0"/>
          <a:ext cx="0" cy="0"/>
          <a:chOff x="0" y="0"/>
          <a:chExt cx="0" cy="0"/>
        </a:xfrm>
      </p:grpSpPr>
      <p:sp>
        <p:nvSpPr>
          <p:cNvPr id="2" name="Shape 0"/>
          <p:cNvSpPr/>
          <p:nvPr/>
        </p:nvSpPr>
        <p:spPr>
          <a:xfrm>
            <a:off x="8366760" y="640080"/>
            <a:ext cx="2971800" cy="5394960"/>
          </a:xfrm>
          <a:prstGeom prst="rect">
            <a:avLst/>
          </a:prstGeom>
          <a:solidFill>
            <a:srgbClr val="D6EAFE"/>
          </a:solidFill>
          <a:ln w="12700">
            <a:solidFill>
              <a:srgbClr val="D6EAFE"/>
            </a:solidFill>
            <a:prstDash val="solid"/>
          </a:ln>
        </p:spPr>
      </p:sp>
      <p:sp>
        <p:nvSpPr>
          <p:cNvPr id="3" name="Shape 1"/>
          <p:cNvSpPr/>
          <p:nvPr/>
        </p:nvSpPr>
        <p:spPr>
          <a:xfrm>
            <a:off x="8732520" y="960120"/>
            <a:ext cx="2240280" cy="4754880"/>
          </a:xfrm>
          <a:prstGeom prst="rect">
            <a:avLst/>
          </a:prstGeom>
          <a:solidFill>
            <a:srgbClr val="BFDDFB">
              <a:alpha val="90000"/>
            </a:srgbClr>
          </a:solidFill>
          <a:ln w="12700">
            <a:solidFill>
              <a:srgbClr val="BFDDFB"/>
            </a:solidFill>
            <a:prstDash val="solid"/>
          </a:ln>
        </p:spPr>
      </p:sp>
      <p:sp>
        <p:nvSpPr>
          <p:cNvPr id="4" name="Text 2"/>
          <p:cNvSpPr/>
          <p:nvPr/>
        </p:nvSpPr>
        <p:spPr>
          <a:xfrm>
            <a:off x="685800" y="1078992"/>
            <a:ext cx="6217920" cy="1234440"/>
          </a:xfrm>
          <a:prstGeom prst="rect">
            <a:avLst/>
          </a:prstGeom>
          <a:noFill/>
          <a:ln/>
        </p:spPr>
        <p:txBody>
          <a:bodyPr wrap="square" lIns="0" tIns="0" rIns="0" bIns="0" rtlCol="0" anchor="ctr"/>
          <a:lstStyle/>
          <a:p>
            <a:pPr indent="0" marL="0">
              <a:buNone/>
            </a:pPr>
            <a:r>
              <a:rPr lang="en-US" sz="4200" b="1" dirty="0">
                <a:solidFill>
                  <a:srgbClr val="1F4E79"/>
                </a:solidFill>
              </a:rPr>
              <a:t>Smart Event</a:t>
            </a:r>
            <a:endParaRPr lang="en-US" sz="4200" dirty="0"/>
          </a:p>
          <a:p>
            <a:pPr indent="0" marL="0">
              <a:buNone/>
            </a:pPr>
            <a:r>
              <a:rPr lang="en-US" sz="4200" b="1" dirty="0">
                <a:solidFill>
                  <a:srgbClr val="1F4E79"/>
                </a:solidFill>
              </a:rPr>
              <a:t>Booking Pro</a:t>
            </a:r>
            <a:endParaRPr lang="en-US" sz="4200" dirty="0"/>
          </a:p>
        </p:txBody>
      </p:sp>
      <p:sp>
        <p:nvSpPr>
          <p:cNvPr id="5" name="Text 3"/>
          <p:cNvSpPr/>
          <p:nvPr/>
        </p:nvSpPr>
        <p:spPr>
          <a:xfrm>
            <a:off x="713232" y="2514600"/>
            <a:ext cx="6766560" cy="365760"/>
          </a:xfrm>
          <a:prstGeom prst="rect">
            <a:avLst/>
          </a:prstGeom>
          <a:noFill/>
          <a:ln/>
        </p:spPr>
        <p:txBody>
          <a:bodyPr wrap="square" lIns="0" tIns="0" rIns="0" bIns="0" rtlCol="0" anchor="ctr"/>
          <a:lstStyle/>
          <a:p>
            <a:pPr indent="0" marL="0">
              <a:buNone/>
            </a:pPr>
            <a:r>
              <a:rPr lang="en-US" sz="2000" dirty="0">
                <a:solidFill>
                  <a:srgbClr val="1F2937"/>
                </a:solidFill>
              </a:rPr>
              <a:t>Full-Stack Web Application with Responsible AI Integration</a:t>
            </a:r>
            <a:endParaRPr lang="en-US" sz="2000" dirty="0"/>
          </a:p>
        </p:txBody>
      </p:sp>
      <p:sp>
        <p:nvSpPr>
          <p:cNvPr id="6" name="Shape 4"/>
          <p:cNvSpPr/>
          <p:nvPr/>
        </p:nvSpPr>
        <p:spPr>
          <a:xfrm>
            <a:off x="731520" y="3246120"/>
            <a:ext cx="1417320" cy="384048"/>
          </a:xfrm>
          <a:prstGeom prst="roundRect">
            <a:avLst>
              <a:gd name="adj" fmla="val 23810"/>
            </a:avLst>
          </a:prstGeom>
          <a:solidFill>
            <a:srgbClr val="D9EAFE"/>
          </a:solidFill>
          <a:ln w="12700">
            <a:solidFill>
              <a:srgbClr val="D9EAFE"/>
            </a:solidFill>
            <a:prstDash val="solid"/>
          </a:ln>
        </p:spPr>
      </p:sp>
      <p:sp>
        <p:nvSpPr>
          <p:cNvPr id="7" name="Text 5"/>
          <p:cNvSpPr/>
          <p:nvPr/>
        </p:nvSpPr>
        <p:spPr>
          <a:xfrm>
            <a:off x="841248" y="3346704"/>
            <a:ext cx="1197864" cy="182880"/>
          </a:xfrm>
          <a:prstGeom prst="rect">
            <a:avLst/>
          </a:prstGeom>
          <a:noFill/>
          <a:ln/>
        </p:spPr>
        <p:txBody>
          <a:bodyPr wrap="square" lIns="0" tIns="0" rIns="0" bIns="0" rtlCol="0" anchor="ctr"/>
          <a:lstStyle/>
          <a:p>
            <a:pPr algn="ctr" indent="0" marL="0">
              <a:buNone/>
            </a:pPr>
            <a:r>
              <a:rPr lang="en-US" sz="1000" b="1" dirty="0">
                <a:solidFill>
                  <a:srgbClr val="1F4E79"/>
                </a:solidFill>
              </a:rPr>
              <a:t>PHP + MySQL</a:t>
            </a:r>
            <a:endParaRPr lang="en-US" sz="1000" dirty="0"/>
          </a:p>
        </p:txBody>
      </p:sp>
      <p:sp>
        <p:nvSpPr>
          <p:cNvPr id="8" name="Shape 6"/>
          <p:cNvSpPr/>
          <p:nvPr/>
        </p:nvSpPr>
        <p:spPr>
          <a:xfrm>
            <a:off x="2331720" y="3246120"/>
            <a:ext cx="1508760" cy="384048"/>
          </a:xfrm>
          <a:prstGeom prst="roundRect">
            <a:avLst>
              <a:gd name="adj" fmla="val 23810"/>
            </a:avLst>
          </a:prstGeom>
          <a:solidFill>
            <a:srgbClr val="DFF5E4"/>
          </a:solidFill>
          <a:ln w="12700">
            <a:solidFill>
              <a:srgbClr val="DFF5E4"/>
            </a:solidFill>
            <a:prstDash val="solid"/>
          </a:ln>
        </p:spPr>
      </p:sp>
      <p:sp>
        <p:nvSpPr>
          <p:cNvPr id="9" name="Text 7"/>
          <p:cNvSpPr/>
          <p:nvPr/>
        </p:nvSpPr>
        <p:spPr>
          <a:xfrm>
            <a:off x="2441448" y="3346704"/>
            <a:ext cx="1289304" cy="182880"/>
          </a:xfrm>
          <a:prstGeom prst="rect">
            <a:avLst/>
          </a:prstGeom>
          <a:noFill/>
          <a:ln/>
        </p:spPr>
        <p:txBody>
          <a:bodyPr wrap="square" lIns="0" tIns="0" rIns="0" bIns="0" rtlCol="0" anchor="ctr"/>
          <a:lstStyle/>
          <a:p>
            <a:pPr algn="ctr" indent="0" marL="0">
              <a:buNone/>
            </a:pPr>
            <a:r>
              <a:rPr lang="en-US" sz="1000" b="1" dirty="0">
                <a:solidFill>
                  <a:srgbClr val="2E7D32"/>
                </a:solidFill>
              </a:rPr>
              <a:t>Secure Login</a:t>
            </a:r>
            <a:endParaRPr lang="en-US" sz="1000" dirty="0"/>
          </a:p>
        </p:txBody>
      </p:sp>
      <p:sp>
        <p:nvSpPr>
          <p:cNvPr id="10" name="Shape 8"/>
          <p:cNvSpPr/>
          <p:nvPr/>
        </p:nvSpPr>
        <p:spPr>
          <a:xfrm>
            <a:off x="4023360" y="3246120"/>
            <a:ext cx="1874520" cy="384048"/>
          </a:xfrm>
          <a:prstGeom prst="roundRect">
            <a:avLst>
              <a:gd name="adj" fmla="val 23810"/>
            </a:avLst>
          </a:prstGeom>
          <a:solidFill>
            <a:srgbClr val="FFE9C6"/>
          </a:solidFill>
          <a:ln w="12700">
            <a:solidFill>
              <a:srgbClr val="FFE9C6"/>
            </a:solidFill>
            <a:prstDash val="solid"/>
          </a:ln>
        </p:spPr>
      </p:sp>
      <p:sp>
        <p:nvSpPr>
          <p:cNvPr id="11" name="Text 9"/>
          <p:cNvSpPr/>
          <p:nvPr/>
        </p:nvSpPr>
        <p:spPr>
          <a:xfrm>
            <a:off x="4133088" y="3346704"/>
            <a:ext cx="1655064" cy="182880"/>
          </a:xfrm>
          <a:prstGeom prst="rect">
            <a:avLst/>
          </a:prstGeom>
          <a:noFill/>
          <a:ln/>
        </p:spPr>
        <p:txBody>
          <a:bodyPr wrap="square" lIns="0" tIns="0" rIns="0" bIns="0" rtlCol="0" anchor="ctr"/>
          <a:lstStyle/>
          <a:p>
            <a:pPr algn="ctr" indent="0" marL="0">
              <a:buNone/>
            </a:pPr>
            <a:r>
              <a:rPr lang="en-US" sz="1000" b="1" dirty="0">
                <a:solidFill>
                  <a:srgbClr val="B45309"/>
                </a:solidFill>
              </a:rPr>
              <a:t>AI Help Assistant</a:t>
            </a:r>
            <a:endParaRPr lang="en-US" sz="1000" dirty="0"/>
          </a:p>
        </p:txBody>
      </p:sp>
      <p:sp>
        <p:nvSpPr>
          <p:cNvPr id="12" name="Shape 10"/>
          <p:cNvSpPr/>
          <p:nvPr/>
        </p:nvSpPr>
        <p:spPr>
          <a:xfrm>
            <a:off x="731520" y="4892040"/>
            <a:ext cx="5989320" cy="841248"/>
          </a:xfrm>
          <a:prstGeom prst="roundRect">
            <a:avLst>
              <a:gd name="adj" fmla="val 10870"/>
            </a:avLst>
          </a:prstGeom>
          <a:solidFill>
            <a:srgbClr val="FFFFFF"/>
          </a:solidFill>
          <a:ln w="12700">
            <a:solidFill>
              <a:srgbClr val="BBD6F4"/>
            </a:solidFill>
            <a:prstDash val="solid"/>
          </a:ln>
        </p:spPr>
      </p:sp>
      <p:sp>
        <p:nvSpPr>
          <p:cNvPr id="13" name="Text 11"/>
          <p:cNvSpPr/>
          <p:nvPr/>
        </p:nvSpPr>
        <p:spPr>
          <a:xfrm>
            <a:off x="914400" y="5184648"/>
            <a:ext cx="5623560" cy="228600"/>
          </a:xfrm>
          <a:prstGeom prst="rect">
            <a:avLst/>
          </a:prstGeom>
          <a:noFill/>
          <a:ln/>
        </p:spPr>
        <p:txBody>
          <a:bodyPr wrap="square" lIns="0" tIns="0" rIns="0" bIns="0" rtlCol="0" anchor="ctr"/>
          <a:lstStyle/>
          <a:p>
            <a:pPr algn="ctr" indent="0" marL="0">
              <a:buNone/>
            </a:pPr>
            <a:r>
              <a:rPr lang="en-US" sz="1350" dirty="0">
                <a:solidFill>
                  <a:srgbClr val="1F2937"/>
                </a:solidFill>
              </a:rPr>
              <a:t>Cheki Dorji (CIHE250699)  |  Sonam Dechen (CIHE231620)  |  Subodh Dhungel (CIHE231762)</a:t>
            </a:r>
            <a:endParaRPr lang="en-US" sz="1350" dirty="0"/>
          </a:p>
        </p:txBody>
      </p:sp>
      <p:sp>
        <p:nvSpPr>
          <p:cNvPr id="14" name="Text 12"/>
          <p:cNvSpPr/>
          <p:nvPr/>
        </p:nvSpPr>
        <p:spPr>
          <a:xfrm>
            <a:off x="731520" y="6181344"/>
            <a:ext cx="5303520" cy="228600"/>
          </a:xfrm>
          <a:prstGeom prst="rect">
            <a:avLst/>
          </a:prstGeom>
          <a:noFill/>
          <a:ln/>
        </p:spPr>
        <p:txBody>
          <a:bodyPr wrap="square" lIns="0" tIns="0" rIns="0" bIns="0" rtlCol="0" anchor="ctr"/>
          <a:lstStyle/>
          <a:p>
            <a:pPr indent="0" marL="0">
              <a:buNone/>
            </a:pPr>
            <a:r>
              <a:rPr lang="en-US" sz="1100" dirty="0">
                <a:solidFill>
                  <a:srgbClr val="6B7280"/>
                </a:solidFill>
              </a:rPr>
              <a:t>ICT203 Web Application Development • Assessment 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Project overview</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Scenario, Problem and Users</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Text 4"/>
          <p:cNvSpPr/>
          <p:nvPr/>
        </p:nvSpPr>
        <p:spPr>
          <a:xfrm>
            <a:off x="685800" y="1444752"/>
            <a:ext cx="2286000" cy="320040"/>
          </a:xfrm>
          <a:prstGeom prst="rect">
            <a:avLst/>
          </a:prstGeom>
          <a:noFill/>
          <a:ln/>
        </p:spPr>
        <p:txBody>
          <a:bodyPr wrap="square" lIns="0" tIns="0" rIns="0" bIns="0" rtlCol="0" anchor="ctr"/>
          <a:lstStyle/>
          <a:p>
            <a:pPr indent="0" marL="0">
              <a:buNone/>
            </a:pPr>
            <a:r>
              <a:rPr lang="en-US" sz="1700" b="1" dirty="0">
                <a:solidFill>
                  <a:srgbClr val="1F4E79"/>
                </a:solidFill>
              </a:rPr>
              <a:t>Client scenario</a:t>
            </a:r>
            <a:endParaRPr lang="en-US" sz="1700" dirty="0"/>
          </a:p>
        </p:txBody>
      </p:sp>
      <p:sp>
        <p:nvSpPr>
          <p:cNvPr id="7" name="Text 5"/>
          <p:cNvSpPr/>
          <p:nvPr/>
        </p:nvSpPr>
        <p:spPr>
          <a:xfrm>
            <a:off x="685800" y="1828800"/>
            <a:ext cx="4846320" cy="685800"/>
          </a:xfrm>
          <a:prstGeom prst="rect">
            <a:avLst/>
          </a:prstGeom>
          <a:noFill/>
          <a:ln/>
        </p:spPr>
        <p:txBody>
          <a:bodyPr wrap="square" lIns="254" tIns="254" rIns="254" bIns="254" rtlCol="0" anchor="ctr">
            <a:normAutofit/>
          </a:bodyPr>
          <a:lstStyle/>
          <a:p>
            <a:pPr indent="0" marL="0">
              <a:buNone/>
            </a:pPr>
            <a:r>
              <a:rPr lang="en-US" sz="1900" dirty="0">
                <a:solidFill>
                  <a:srgbClr val="1F2937"/>
                </a:solidFill>
              </a:rPr>
              <a:t>A local events organiser needs a secure and responsive system to manage event listings and ticket requests.</a:t>
            </a:r>
            <a:endParaRPr lang="en-US" sz="1900" dirty="0"/>
          </a:p>
        </p:txBody>
      </p:sp>
      <p:sp>
        <p:nvSpPr>
          <p:cNvPr id="8" name="Shape 6"/>
          <p:cNvSpPr/>
          <p:nvPr/>
        </p:nvSpPr>
        <p:spPr>
          <a:xfrm>
            <a:off x="685800" y="2788920"/>
            <a:ext cx="3108960" cy="1828800"/>
          </a:xfrm>
          <a:prstGeom prst="roundRect">
            <a:avLst>
              <a:gd name="adj" fmla="val 6000"/>
            </a:avLst>
          </a:prstGeom>
          <a:solidFill>
            <a:srgbClr val="FFF8ED"/>
          </a:solidFill>
          <a:ln w="12700">
            <a:solidFill>
              <a:srgbClr val="F3D29B"/>
            </a:solidFill>
            <a:prstDash val="solid"/>
          </a:ln>
        </p:spPr>
      </p:sp>
      <p:sp>
        <p:nvSpPr>
          <p:cNvPr id="9" name="Text 7"/>
          <p:cNvSpPr/>
          <p:nvPr/>
        </p:nvSpPr>
        <p:spPr>
          <a:xfrm>
            <a:off x="886968" y="2990088"/>
            <a:ext cx="2706624" cy="256032"/>
          </a:xfrm>
          <a:prstGeom prst="rect">
            <a:avLst/>
          </a:prstGeom>
          <a:noFill/>
          <a:ln/>
        </p:spPr>
        <p:txBody>
          <a:bodyPr wrap="square" lIns="0" tIns="0" rIns="0" bIns="0" rtlCol="0" anchor="ctr"/>
          <a:lstStyle/>
          <a:p>
            <a:pPr indent="0" marL="0">
              <a:buNone/>
            </a:pPr>
            <a:r>
              <a:rPr lang="en-US" sz="1500" b="1" dirty="0">
                <a:solidFill>
                  <a:srgbClr val="1F4E79"/>
                </a:solidFill>
              </a:rPr>
              <a:t>Current challenge</a:t>
            </a:r>
            <a:endParaRPr lang="en-US" sz="1500" dirty="0"/>
          </a:p>
        </p:txBody>
      </p:sp>
      <p:sp>
        <p:nvSpPr>
          <p:cNvPr id="10" name="Text 8"/>
          <p:cNvSpPr/>
          <p:nvPr/>
        </p:nvSpPr>
        <p:spPr>
          <a:xfrm>
            <a:off x="886968" y="3355848"/>
            <a:ext cx="2706624" cy="10972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Manual bookings through emails or spreadsheets can cause duplicated records, slow updates and missing booking information.</a:t>
            </a:r>
            <a:endParaRPr lang="en-US" sz="1250" dirty="0"/>
          </a:p>
        </p:txBody>
      </p:sp>
      <p:sp>
        <p:nvSpPr>
          <p:cNvPr id="11" name="Shape 9"/>
          <p:cNvSpPr/>
          <p:nvPr/>
        </p:nvSpPr>
        <p:spPr>
          <a:xfrm>
            <a:off x="4069080" y="2788920"/>
            <a:ext cx="3108960" cy="1828800"/>
          </a:xfrm>
          <a:prstGeom prst="roundRect">
            <a:avLst>
              <a:gd name="adj" fmla="val 6000"/>
            </a:avLst>
          </a:prstGeom>
          <a:solidFill>
            <a:srgbClr val="F1F7FF"/>
          </a:solidFill>
          <a:ln w="12700">
            <a:solidFill>
              <a:srgbClr val="BBD6F4"/>
            </a:solidFill>
            <a:prstDash val="solid"/>
          </a:ln>
        </p:spPr>
      </p:sp>
      <p:sp>
        <p:nvSpPr>
          <p:cNvPr id="12" name="Text 10"/>
          <p:cNvSpPr/>
          <p:nvPr/>
        </p:nvSpPr>
        <p:spPr>
          <a:xfrm>
            <a:off x="4270248" y="2990088"/>
            <a:ext cx="2706624" cy="256032"/>
          </a:xfrm>
          <a:prstGeom prst="rect">
            <a:avLst/>
          </a:prstGeom>
          <a:noFill/>
          <a:ln/>
        </p:spPr>
        <p:txBody>
          <a:bodyPr wrap="square" lIns="0" tIns="0" rIns="0" bIns="0" rtlCol="0" anchor="ctr"/>
          <a:lstStyle/>
          <a:p>
            <a:pPr indent="0" marL="0">
              <a:buNone/>
            </a:pPr>
            <a:r>
              <a:rPr lang="en-US" sz="1500" b="1" dirty="0">
                <a:solidFill>
                  <a:srgbClr val="1F4E79"/>
                </a:solidFill>
              </a:rPr>
              <a:t>Required solution</a:t>
            </a:r>
            <a:endParaRPr lang="en-US" sz="1500" dirty="0"/>
          </a:p>
        </p:txBody>
      </p:sp>
      <p:sp>
        <p:nvSpPr>
          <p:cNvPr id="13" name="Text 11"/>
          <p:cNvSpPr/>
          <p:nvPr/>
        </p:nvSpPr>
        <p:spPr>
          <a:xfrm>
            <a:off x="4270248" y="3355848"/>
            <a:ext cx="2706624" cy="10972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A database-driven web application with login, CRUD, search/filter, validation and responsible AI support.</a:t>
            </a:r>
            <a:endParaRPr lang="en-US" sz="1250" dirty="0"/>
          </a:p>
        </p:txBody>
      </p:sp>
      <p:sp>
        <p:nvSpPr>
          <p:cNvPr id="14" name="Shape 12"/>
          <p:cNvSpPr/>
          <p:nvPr/>
        </p:nvSpPr>
        <p:spPr>
          <a:xfrm>
            <a:off x="7452360" y="2788920"/>
            <a:ext cx="3108960" cy="1828800"/>
          </a:xfrm>
          <a:prstGeom prst="roundRect">
            <a:avLst>
              <a:gd name="adj" fmla="val 6000"/>
            </a:avLst>
          </a:prstGeom>
          <a:solidFill>
            <a:srgbClr val="F0FBF4"/>
          </a:solidFill>
          <a:ln w="12700">
            <a:solidFill>
              <a:srgbClr val="BDE7C5"/>
            </a:solidFill>
            <a:prstDash val="solid"/>
          </a:ln>
        </p:spPr>
      </p:sp>
      <p:sp>
        <p:nvSpPr>
          <p:cNvPr id="15" name="Text 13"/>
          <p:cNvSpPr/>
          <p:nvPr/>
        </p:nvSpPr>
        <p:spPr>
          <a:xfrm>
            <a:off x="7653528" y="2990088"/>
            <a:ext cx="2706624" cy="256032"/>
          </a:xfrm>
          <a:prstGeom prst="rect">
            <a:avLst/>
          </a:prstGeom>
          <a:noFill/>
          <a:ln/>
        </p:spPr>
        <p:txBody>
          <a:bodyPr wrap="square" lIns="0" tIns="0" rIns="0" bIns="0" rtlCol="0" anchor="ctr"/>
          <a:lstStyle/>
          <a:p>
            <a:pPr indent="0" marL="0">
              <a:buNone/>
            </a:pPr>
            <a:r>
              <a:rPr lang="en-US" sz="1500" b="1" dirty="0">
                <a:solidFill>
                  <a:srgbClr val="1F4E79"/>
                </a:solidFill>
              </a:rPr>
              <a:t>Main users</a:t>
            </a:r>
            <a:endParaRPr lang="en-US" sz="1500" dirty="0"/>
          </a:p>
        </p:txBody>
      </p:sp>
      <p:sp>
        <p:nvSpPr>
          <p:cNvPr id="16" name="Text 14"/>
          <p:cNvSpPr/>
          <p:nvPr/>
        </p:nvSpPr>
        <p:spPr>
          <a:xfrm>
            <a:off x="7653528" y="3355848"/>
            <a:ext cx="2706624" cy="10972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Standard users book tickets. Admins manage events and bookings. The organiser monitors activity and system records.</a:t>
            </a:r>
            <a:endParaRPr lang="en-US" sz="1250" dirty="0"/>
          </a:p>
        </p:txBody>
      </p:sp>
      <p:sp>
        <p:nvSpPr>
          <p:cNvPr id="17" name="Text 15"/>
          <p:cNvSpPr/>
          <p:nvPr/>
        </p:nvSpPr>
        <p:spPr>
          <a:xfrm>
            <a:off x="1965960" y="5577840"/>
            <a:ext cx="8321040" cy="310896"/>
          </a:xfrm>
          <a:prstGeom prst="rect">
            <a:avLst/>
          </a:prstGeom>
          <a:noFill/>
          <a:ln/>
        </p:spPr>
        <p:txBody>
          <a:bodyPr wrap="square" lIns="0" tIns="0" rIns="0" bIns="0" rtlCol="0" anchor="ctr"/>
          <a:lstStyle/>
          <a:p>
            <a:pPr algn="ctr" indent="0" marL="0">
              <a:buNone/>
            </a:pPr>
            <a:r>
              <a:rPr lang="en-US" sz="2400" b="1" dirty="0">
                <a:solidFill>
                  <a:srgbClr val="1F4E79"/>
                </a:solidFill>
              </a:rPr>
              <a:t>Project goal: planning → build → test → deploy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Features</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Final Solution Overview</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Text 4"/>
          <p:cNvSpPr/>
          <p:nvPr/>
        </p:nvSpPr>
        <p:spPr>
          <a:xfrm>
            <a:off x="685800" y="1307592"/>
            <a:ext cx="5943600" cy="320040"/>
          </a:xfrm>
          <a:prstGeom prst="rect">
            <a:avLst/>
          </a:prstGeom>
          <a:noFill/>
          <a:ln/>
        </p:spPr>
        <p:txBody>
          <a:bodyPr wrap="square" lIns="0" tIns="0" rIns="0" bIns="0" rtlCol="0" anchor="ctr"/>
          <a:lstStyle/>
          <a:p>
            <a:pPr indent="0" marL="0">
              <a:buNone/>
            </a:pPr>
            <a:r>
              <a:rPr lang="en-US" sz="1800" dirty="0">
                <a:solidFill>
                  <a:srgbClr val="1F2937"/>
                </a:solidFill>
              </a:rPr>
              <a:t>The system provides two clear workflows</a:t>
            </a:r>
            <a:endParaRPr lang="en-US" sz="1800" dirty="0"/>
          </a:p>
        </p:txBody>
      </p:sp>
      <p:sp>
        <p:nvSpPr>
          <p:cNvPr id="7" name="Shape 5"/>
          <p:cNvSpPr/>
          <p:nvPr/>
        </p:nvSpPr>
        <p:spPr>
          <a:xfrm>
            <a:off x="685800" y="1828800"/>
            <a:ext cx="2971800" cy="3337560"/>
          </a:xfrm>
          <a:prstGeom prst="roundRect">
            <a:avLst>
              <a:gd name="adj" fmla="val 3692"/>
            </a:avLst>
          </a:prstGeom>
          <a:solidFill>
            <a:srgbClr val="F1F7FF"/>
          </a:solidFill>
          <a:ln w="12700">
            <a:solidFill>
              <a:srgbClr val="BBD6F4"/>
            </a:solidFill>
            <a:prstDash val="solid"/>
          </a:ln>
        </p:spPr>
      </p:sp>
      <p:sp>
        <p:nvSpPr>
          <p:cNvPr id="8" name="Text 6"/>
          <p:cNvSpPr/>
          <p:nvPr/>
        </p:nvSpPr>
        <p:spPr>
          <a:xfrm>
            <a:off x="886968" y="2029968"/>
            <a:ext cx="2569464" cy="256032"/>
          </a:xfrm>
          <a:prstGeom prst="rect">
            <a:avLst/>
          </a:prstGeom>
          <a:noFill/>
          <a:ln/>
        </p:spPr>
        <p:txBody>
          <a:bodyPr wrap="square" lIns="0" tIns="0" rIns="0" bIns="0" rtlCol="0" anchor="ctr"/>
          <a:lstStyle/>
          <a:p>
            <a:pPr indent="0" marL="0">
              <a:buNone/>
            </a:pPr>
            <a:r>
              <a:rPr lang="en-US" sz="1500" b="1" dirty="0">
                <a:solidFill>
                  <a:srgbClr val="1F4E79"/>
                </a:solidFill>
              </a:rPr>
              <a:t>Standard User</a:t>
            </a:r>
            <a:endParaRPr lang="en-US" sz="1500" dirty="0"/>
          </a:p>
        </p:txBody>
      </p:sp>
      <p:sp>
        <p:nvSpPr>
          <p:cNvPr id="9" name="Text 7"/>
          <p:cNvSpPr/>
          <p:nvPr/>
        </p:nvSpPr>
        <p:spPr>
          <a:xfrm>
            <a:off x="886968" y="2395728"/>
            <a:ext cx="2569464" cy="260604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Register and login</a:t>
            </a:r>
            <a:endParaRPr lang="en-US" sz="1250" dirty="0"/>
          </a:p>
          <a:p>
            <a:pPr indent="0" marL="0">
              <a:buNone/>
            </a:pPr>
            <a:r>
              <a:rPr lang="en-US" sz="1250" dirty="0">
                <a:solidFill>
                  <a:srgbClr val="1F2937"/>
                </a:solidFill>
              </a:rPr>
              <a:t>Browse event list</a:t>
            </a:r>
            <a:endParaRPr lang="en-US" sz="1250" dirty="0"/>
          </a:p>
          <a:p>
            <a:pPr indent="0" marL="0">
              <a:buNone/>
            </a:pPr>
            <a:r>
              <a:rPr lang="en-US" sz="1250" dirty="0">
                <a:solidFill>
                  <a:srgbClr val="1F2937"/>
                </a:solidFill>
              </a:rPr>
              <a:t>Search/filter events</a:t>
            </a:r>
            <a:endParaRPr lang="en-US" sz="1250" dirty="0"/>
          </a:p>
          <a:p>
            <a:pPr indent="0" marL="0">
              <a:buNone/>
            </a:pPr>
            <a:r>
              <a:rPr lang="en-US" sz="1250" dirty="0">
                <a:solidFill>
                  <a:srgbClr val="1F2937"/>
                </a:solidFill>
              </a:rPr>
              <a:t>Request tickets</a:t>
            </a:r>
            <a:endParaRPr lang="en-US" sz="1250" dirty="0"/>
          </a:p>
          <a:p>
            <a:pPr indent="0" marL="0">
              <a:buNone/>
            </a:pPr>
            <a:r>
              <a:rPr lang="en-US" sz="1250" dirty="0">
                <a:solidFill>
                  <a:srgbClr val="1F2937"/>
                </a:solidFill>
              </a:rPr>
              <a:t>Check booking status</a:t>
            </a:r>
            <a:endParaRPr lang="en-US" sz="1250" dirty="0"/>
          </a:p>
        </p:txBody>
      </p:sp>
      <p:sp>
        <p:nvSpPr>
          <p:cNvPr id="10" name="Shape 8"/>
          <p:cNvSpPr/>
          <p:nvPr/>
        </p:nvSpPr>
        <p:spPr>
          <a:xfrm>
            <a:off x="3794760" y="3429000"/>
            <a:ext cx="1005840" cy="0"/>
          </a:xfrm>
          <a:prstGeom prst="line">
            <a:avLst/>
          </a:prstGeom>
          <a:noFill/>
          <a:ln w="27940">
            <a:solidFill>
              <a:srgbClr val="6B7280"/>
            </a:solidFill>
            <a:prstDash val="solid"/>
            <a:headEnd type="none"/>
            <a:tailEnd type="triangle"/>
          </a:ln>
        </p:spPr>
      </p:sp>
      <p:sp>
        <p:nvSpPr>
          <p:cNvPr id="11" name="Shape 9"/>
          <p:cNvSpPr/>
          <p:nvPr/>
        </p:nvSpPr>
        <p:spPr>
          <a:xfrm>
            <a:off x="4892040" y="1828800"/>
            <a:ext cx="2423160" cy="3337560"/>
          </a:xfrm>
          <a:prstGeom prst="roundRect">
            <a:avLst>
              <a:gd name="adj" fmla="val 4528"/>
            </a:avLst>
          </a:prstGeom>
          <a:solidFill>
            <a:srgbClr val="F8FAFC"/>
          </a:solidFill>
          <a:ln w="12700">
            <a:solidFill>
              <a:srgbClr val="D7E0EA"/>
            </a:solidFill>
            <a:prstDash val="solid"/>
          </a:ln>
        </p:spPr>
      </p:sp>
      <p:sp>
        <p:nvSpPr>
          <p:cNvPr id="12" name="Text 10"/>
          <p:cNvSpPr/>
          <p:nvPr/>
        </p:nvSpPr>
        <p:spPr>
          <a:xfrm>
            <a:off x="5093208" y="2029968"/>
            <a:ext cx="2020824" cy="256032"/>
          </a:xfrm>
          <a:prstGeom prst="rect">
            <a:avLst/>
          </a:prstGeom>
          <a:noFill/>
          <a:ln/>
        </p:spPr>
        <p:txBody>
          <a:bodyPr wrap="square" lIns="0" tIns="0" rIns="0" bIns="0" rtlCol="0" anchor="ctr"/>
          <a:lstStyle/>
          <a:p>
            <a:pPr indent="0" marL="0">
              <a:buNone/>
            </a:pPr>
            <a:r>
              <a:rPr lang="en-US" sz="1500" b="1" dirty="0">
                <a:solidFill>
                  <a:srgbClr val="1F4E79"/>
                </a:solidFill>
              </a:rPr>
              <a:t>Database</a:t>
            </a:r>
            <a:endParaRPr lang="en-US" sz="1500" dirty="0"/>
          </a:p>
        </p:txBody>
      </p:sp>
      <p:sp>
        <p:nvSpPr>
          <p:cNvPr id="13" name="Text 11"/>
          <p:cNvSpPr/>
          <p:nvPr/>
        </p:nvSpPr>
        <p:spPr>
          <a:xfrm>
            <a:off x="5093208" y="2395728"/>
            <a:ext cx="2020824" cy="260604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Users</a:t>
            </a:r>
            <a:endParaRPr lang="en-US" sz="1250" dirty="0"/>
          </a:p>
          <a:p>
            <a:pPr indent="0" marL="0">
              <a:buNone/>
            </a:pPr>
            <a:r>
              <a:rPr lang="en-US" sz="1250" dirty="0">
                <a:solidFill>
                  <a:srgbClr val="1F2937"/>
                </a:solidFill>
              </a:rPr>
              <a:t>Events</a:t>
            </a:r>
            <a:endParaRPr lang="en-US" sz="1250" dirty="0"/>
          </a:p>
          <a:p>
            <a:pPr indent="0" marL="0">
              <a:buNone/>
            </a:pPr>
            <a:r>
              <a:rPr lang="en-US" sz="1250" dirty="0">
                <a:solidFill>
                  <a:srgbClr val="1F2937"/>
                </a:solidFill>
              </a:rPr>
              <a:t>Bookings</a:t>
            </a:r>
            <a:endParaRPr lang="en-US" sz="1250" dirty="0"/>
          </a:p>
          <a:p>
            <a:pPr indent="0" marL="0">
              <a:buNone/>
            </a:pPr>
            <a:r>
              <a:rPr lang="en-US" sz="1250" dirty="0">
                <a:solidFill>
                  <a:srgbClr val="1F2937"/>
                </a:solidFill>
              </a:rPr>
              <a:t>Activity logs</a:t>
            </a:r>
            <a:endParaRPr lang="en-US" sz="1250" dirty="0"/>
          </a:p>
          <a:p>
            <a:pPr indent="0" marL="0">
              <a:buNone/>
            </a:pPr>
            <a:r>
              <a:rPr lang="en-US" sz="1250" dirty="0">
                <a:solidFill>
                  <a:srgbClr val="1F2937"/>
                </a:solidFill>
              </a:rPr>
              <a:t>AI suggestions</a:t>
            </a:r>
            <a:endParaRPr lang="en-US" sz="1250" dirty="0"/>
          </a:p>
        </p:txBody>
      </p:sp>
      <p:sp>
        <p:nvSpPr>
          <p:cNvPr id="14" name="Shape 12"/>
          <p:cNvSpPr/>
          <p:nvPr/>
        </p:nvSpPr>
        <p:spPr>
          <a:xfrm>
            <a:off x="7452360" y="3429000"/>
            <a:ext cx="1005840" cy="0"/>
          </a:xfrm>
          <a:prstGeom prst="line">
            <a:avLst/>
          </a:prstGeom>
          <a:noFill/>
          <a:ln w="27940">
            <a:solidFill>
              <a:srgbClr val="6B7280"/>
            </a:solidFill>
            <a:prstDash val="solid"/>
            <a:headEnd type="none"/>
            <a:tailEnd type="triangle"/>
          </a:ln>
        </p:spPr>
      </p:sp>
      <p:sp>
        <p:nvSpPr>
          <p:cNvPr id="15" name="Shape 13"/>
          <p:cNvSpPr/>
          <p:nvPr/>
        </p:nvSpPr>
        <p:spPr>
          <a:xfrm>
            <a:off x="8549640" y="1828800"/>
            <a:ext cx="2971800" cy="3337560"/>
          </a:xfrm>
          <a:prstGeom prst="roundRect">
            <a:avLst>
              <a:gd name="adj" fmla="val 3692"/>
            </a:avLst>
          </a:prstGeom>
          <a:solidFill>
            <a:srgbClr val="F0FBF4"/>
          </a:solidFill>
          <a:ln w="12700">
            <a:solidFill>
              <a:srgbClr val="BDE7C5"/>
            </a:solidFill>
            <a:prstDash val="solid"/>
          </a:ln>
        </p:spPr>
      </p:sp>
      <p:sp>
        <p:nvSpPr>
          <p:cNvPr id="16" name="Text 14"/>
          <p:cNvSpPr/>
          <p:nvPr/>
        </p:nvSpPr>
        <p:spPr>
          <a:xfrm>
            <a:off x="8750808" y="2029968"/>
            <a:ext cx="2569464" cy="256032"/>
          </a:xfrm>
          <a:prstGeom prst="rect">
            <a:avLst/>
          </a:prstGeom>
          <a:noFill/>
          <a:ln/>
        </p:spPr>
        <p:txBody>
          <a:bodyPr wrap="square" lIns="0" tIns="0" rIns="0" bIns="0" rtlCol="0" anchor="ctr"/>
          <a:lstStyle/>
          <a:p>
            <a:pPr indent="0" marL="0">
              <a:buNone/>
            </a:pPr>
            <a:r>
              <a:rPr lang="en-US" sz="1500" b="1" dirty="0">
                <a:solidFill>
                  <a:srgbClr val="1F4E79"/>
                </a:solidFill>
              </a:rPr>
              <a:t>Admin</a:t>
            </a:r>
            <a:endParaRPr lang="en-US" sz="1500" dirty="0"/>
          </a:p>
        </p:txBody>
      </p:sp>
      <p:sp>
        <p:nvSpPr>
          <p:cNvPr id="17" name="Text 15"/>
          <p:cNvSpPr/>
          <p:nvPr/>
        </p:nvSpPr>
        <p:spPr>
          <a:xfrm>
            <a:off x="8750808" y="2395728"/>
            <a:ext cx="2569464" cy="260604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Manage events</a:t>
            </a:r>
            <a:endParaRPr lang="en-US" sz="1250" dirty="0"/>
          </a:p>
          <a:p>
            <a:pPr indent="0" marL="0">
              <a:buNone/>
            </a:pPr>
            <a:r>
              <a:rPr lang="en-US" sz="1250" dirty="0">
                <a:solidFill>
                  <a:srgbClr val="1F2937"/>
                </a:solidFill>
              </a:rPr>
              <a:t>Review bookings</a:t>
            </a:r>
            <a:endParaRPr lang="en-US" sz="1250" dirty="0"/>
          </a:p>
          <a:p>
            <a:pPr indent="0" marL="0">
              <a:buNone/>
            </a:pPr>
            <a:r>
              <a:rPr lang="en-US" sz="1250" dirty="0">
                <a:solidFill>
                  <a:srgbClr val="1F2937"/>
                </a:solidFill>
              </a:rPr>
              <a:t>Update status</a:t>
            </a:r>
            <a:endParaRPr lang="en-US" sz="1250" dirty="0"/>
          </a:p>
          <a:p>
            <a:pPr indent="0" marL="0">
              <a:buNone/>
            </a:pPr>
            <a:r>
              <a:rPr lang="en-US" sz="1250" dirty="0">
                <a:solidFill>
                  <a:srgbClr val="1F2937"/>
                </a:solidFill>
              </a:rPr>
              <a:t>Check activity</a:t>
            </a:r>
            <a:endParaRPr lang="en-US" sz="1250" dirty="0"/>
          </a:p>
          <a:p>
            <a:pPr indent="0" marL="0">
              <a:buNone/>
            </a:pPr>
            <a:r>
              <a:rPr lang="en-US" sz="1250" dirty="0">
                <a:solidFill>
                  <a:srgbClr val="1F2937"/>
                </a:solidFill>
              </a:rPr>
              <a:t>Maintain FAQ content</a:t>
            </a:r>
            <a:endParaRPr lang="en-US" sz="1250" dirty="0"/>
          </a:p>
        </p:txBody>
      </p:sp>
      <p:sp>
        <p:nvSpPr>
          <p:cNvPr id="18" name="Text 16"/>
          <p:cNvSpPr/>
          <p:nvPr/>
        </p:nvSpPr>
        <p:spPr>
          <a:xfrm>
            <a:off x="777240" y="5623560"/>
            <a:ext cx="10607040" cy="457200"/>
          </a:xfrm>
          <a:prstGeom prst="rect">
            <a:avLst/>
          </a:prstGeom>
          <a:noFill/>
          <a:ln/>
        </p:spPr>
        <p:txBody>
          <a:bodyPr wrap="square" lIns="0" tIns="0" rIns="0" bIns="0" rtlCol="0" anchor="ctr"/>
          <a:lstStyle/>
          <a:p>
            <a:pPr algn="ctr" indent="0" marL="0">
              <a:buNone/>
            </a:pPr>
            <a:r>
              <a:rPr lang="en-US" sz="1900" b="1" dirty="0">
                <a:solidFill>
                  <a:srgbClr val="1F4E79"/>
                </a:solidFill>
              </a:rPr>
              <a:t>Must-have requirements covered: Authentication, role access, CRUD, search/filter, validation, responsive UI and auditability.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System design</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Architecture and Database Design</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pic>
        <p:nvPicPr>
          <p:cNvPr id="6" name="Image 0" descr="/mnt/data/ict203_smart_event_booking_submission_pack/docs/architecture_diagram.png">    </p:cNvPr>
          <p:cNvPicPr>
            <a:picLocks noChangeAspect="1"/>
          </p:cNvPicPr>
          <p:nvPr/>
        </p:nvPicPr>
        <p:blipFill>
          <a:blip r:embed="rId1"/>
          <a:stretch>
            <a:fillRect/>
          </a:stretch>
        </p:blipFill>
        <p:spPr>
          <a:xfrm>
            <a:off x="640080" y="1234440"/>
            <a:ext cx="5440680" cy="3108960"/>
          </a:xfrm>
          <a:prstGeom prst="rect">
            <a:avLst/>
          </a:prstGeom>
        </p:spPr>
      </p:pic>
      <p:pic>
        <p:nvPicPr>
          <p:cNvPr id="7" name="Image 1" descr="/mnt/data/ict203_smart_event_booking_submission_pack/docs/erd_diagram.png">    </p:cNvPr>
          <p:cNvPicPr>
            <a:picLocks noChangeAspect="1"/>
          </p:cNvPicPr>
          <p:nvPr/>
        </p:nvPicPr>
        <p:blipFill>
          <a:blip r:embed="rId2"/>
          <a:stretch>
            <a:fillRect/>
          </a:stretch>
        </p:blipFill>
        <p:spPr>
          <a:xfrm>
            <a:off x="6263640" y="1234440"/>
            <a:ext cx="5257800" cy="3383280"/>
          </a:xfrm>
          <a:prstGeom prst="rect">
            <a:avLst/>
          </a:prstGeom>
        </p:spPr>
      </p:pic>
      <p:sp>
        <p:nvSpPr>
          <p:cNvPr id="8" name="Text 4"/>
          <p:cNvSpPr/>
          <p:nvPr/>
        </p:nvSpPr>
        <p:spPr>
          <a:xfrm>
            <a:off x="731520" y="4800600"/>
            <a:ext cx="2194560" cy="256032"/>
          </a:xfrm>
          <a:prstGeom prst="rect">
            <a:avLst/>
          </a:prstGeom>
          <a:noFill/>
          <a:ln/>
        </p:spPr>
        <p:txBody>
          <a:bodyPr wrap="square" lIns="0" tIns="0" rIns="0" bIns="0" rtlCol="0" anchor="ctr"/>
          <a:lstStyle/>
          <a:p>
            <a:pPr indent="0" marL="0">
              <a:buNone/>
            </a:pPr>
            <a:r>
              <a:rPr lang="en-US" sz="1600" b="1" dirty="0">
                <a:solidFill>
                  <a:srgbClr val="1F4E79"/>
                </a:solidFill>
              </a:rPr>
              <a:t>Design logic</a:t>
            </a:r>
            <a:endParaRPr lang="en-US" sz="1600" dirty="0"/>
          </a:p>
        </p:txBody>
      </p:sp>
      <p:sp>
        <p:nvSpPr>
          <p:cNvPr id="9" name="Shape 5"/>
          <p:cNvSpPr/>
          <p:nvPr/>
        </p:nvSpPr>
        <p:spPr>
          <a:xfrm>
            <a:off x="731520" y="5193792"/>
            <a:ext cx="3383280" cy="749808"/>
          </a:xfrm>
          <a:prstGeom prst="roundRect">
            <a:avLst>
              <a:gd name="adj" fmla="val 14634"/>
            </a:avLst>
          </a:prstGeom>
          <a:solidFill>
            <a:srgbClr val="F1F7FF"/>
          </a:solidFill>
          <a:ln w="12700">
            <a:solidFill>
              <a:srgbClr val="BBD6F4"/>
            </a:solidFill>
            <a:prstDash val="solid"/>
          </a:ln>
        </p:spPr>
      </p:sp>
      <p:sp>
        <p:nvSpPr>
          <p:cNvPr id="10" name="Text 6"/>
          <p:cNvSpPr/>
          <p:nvPr/>
        </p:nvSpPr>
        <p:spPr>
          <a:xfrm>
            <a:off x="932688" y="5394960"/>
            <a:ext cx="2980944" cy="256032"/>
          </a:xfrm>
          <a:prstGeom prst="rect">
            <a:avLst/>
          </a:prstGeom>
          <a:noFill/>
          <a:ln/>
        </p:spPr>
        <p:txBody>
          <a:bodyPr wrap="square" lIns="0" tIns="0" rIns="0" bIns="0" rtlCol="0" anchor="ctr"/>
          <a:lstStyle/>
          <a:p>
            <a:pPr indent="0" marL="0">
              <a:buNone/>
            </a:pPr>
            <a:r>
              <a:rPr lang="en-US" sz="1500" b="1" dirty="0">
                <a:solidFill>
                  <a:srgbClr val="1F4E79"/>
                </a:solidFill>
              </a:rPr>
              <a:t>Client</a:t>
            </a:r>
            <a:endParaRPr lang="en-US" sz="1500" dirty="0"/>
          </a:p>
        </p:txBody>
      </p:sp>
      <p:sp>
        <p:nvSpPr>
          <p:cNvPr id="11" name="Text 7"/>
          <p:cNvSpPr/>
          <p:nvPr/>
        </p:nvSpPr>
        <p:spPr>
          <a:xfrm>
            <a:off x="932688" y="5760720"/>
            <a:ext cx="2980944" cy="18288"/>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Browser sends requests to PHP backend.</a:t>
            </a:r>
            <a:endParaRPr lang="en-US" sz="1250" dirty="0"/>
          </a:p>
        </p:txBody>
      </p:sp>
      <p:sp>
        <p:nvSpPr>
          <p:cNvPr id="12" name="Shape 8"/>
          <p:cNvSpPr/>
          <p:nvPr/>
        </p:nvSpPr>
        <p:spPr>
          <a:xfrm>
            <a:off x="4434840" y="5193792"/>
            <a:ext cx="3383280" cy="749808"/>
          </a:xfrm>
          <a:prstGeom prst="roundRect">
            <a:avLst>
              <a:gd name="adj" fmla="val 14634"/>
            </a:avLst>
          </a:prstGeom>
          <a:solidFill>
            <a:srgbClr val="F0FBF4"/>
          </a:solidFill>
          <a:ln w="12700">
            <a:solidFill>
              <a:srgbClr val="BDE7C5"/>
            </a:solidFill>
            <a:prstDash val="solid"/>
          </a:ln>
        </p:spPr>
      </p:sp>
      <p:sp>
        <p:nvSpPr>
          <p:cNvPr id="13" name="Text 9"/>
          <p:cNvSpPr/>
          <p:nvPr/>
        </p:nvSpPr>
        <p:spPr>
          <a:xfrm>
            <a:off x="4636008" y="5394960"/>
            <a:ext cx="2980944" cy="256032"/>
          </a:xfrm>
          <a:prstGeom prst="rect">
            <a:avLst/>
          </a:prstGeom>
          <a:noFill/>
          <a:ln/>
        </p:spPr>
        <p:txBody>
          <a:bodyPr wrap="square" lIns="0" tIns="0" rIns="0" bIns="0" rtlCol="0" anchor="ctr"/>
          <a:lstStyle/>
          <a:p>
            <a:pPr indent="0" marL="0">
              <a:buNone/>
            </a:pPr>
            <a:r>
              <a:rPr lang="en-US" sz="1500" b="1" dirty="0">
                <a:solidFill>
                  <a:srgbClr val="1F4E79"/>
                </a:solidFill>
              </a:rPr>
              <a:t>Server</a:t>
            </a:r>
            <a:endParaRPr lang="en-US" sz="1500" dirty="0"/>
          </a:p>
        </p:txBody>
      </p:sp>
      <p:sp>
        <p:nvSpPr>
          <p:cNvPr id="14" name="Text 10"/>
          <p:cNvSpPr/>
          <p:nvPr/>
        </p:nvSpPr>
        <p:spPr>
          <a:xfrm>
            <a:off x="4636008" y="5760720"/>
            <a:ext cx="2980944" cy="18288"/>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PHP validates input and uses PDO.</a:t>
            </a:r>
            <a:endParaRPr lang="en-US" sz="1250" dirty="0"/>
          </a:p>
        </p:txBody>
      </p:sp>
      <p:sp>
        <p:nvSpPr>
          <p:cNvPr id="15" name="Shape 11"/>
          <p:cNvSpPr/>
          <p:nvPr/>
        </p:nvSpPr>
        <p:spPr>
          <a:xfrm>
            <a:off x="8138160" y="5193792"/>
            <a:ext cx="3383280" cy="749808"/>
          </a:xfrm>
          <a:prstGeom prst="roundRect">
            <a:avLst>
              <a:gd name="adj" fmla="val 14634"/>
            </a:avLst>
          </a:prstGeom>
          <a:solidFill>
            <a:srgbClr val="FFF8ED"/>
          </a:solidFill>
          <a:ln w="12700">
            <a:solidFill>
              <a:srgbClr val="F3D29B"/>
            </a:solidFill>
            <a:prstDash val="solid"/>
          </a:ln>
        </p:spPr>
      </p:sp>
      <p:sp>
        <p:nvSpPr>
          <p:cNvPr id="16" name="Text 12"/>
          <p:cNvSpPr/>
          <p:nvPr/>
        </p:nvSpPr>
        <p:spPr>
          <a:xfrm>
            <a:off x="8339328" y="5394960"/>
            <a:ext cx="2980944" cy="256032"/>
          </a:xfrm>
          <a:prstGeom prst="rect">
            <a:avLst/>
          </a:prstGeom>
          <a:noFill/>
          <a:ln/>
        </p:spPr>
        <p:txBody>
          <a:bodyPr wrap="square" lIns="0" tIns="0" rIns="0" bIns="0" rtlCol="0" anchor="ctr"/>
          <a:lstStyle/>
          <a:p>
            <a:pPr indent="0" marL="0">
              <a:buNone/>
            </a:pPr>
            <a:r>
              <a:rPr lang="en-US" sz="1500" b="1" dirty="0">
                <a:solidFill>
                  <a:srgbClr val="1F4E79"/>
                </a:solidFill>
              </a:rPr>
              <a:t>Database</a:t>
            </a:r>
            <a:endParaRPr lang="en-US" sz="1500" dirty="0"/>
          </a:p>
        </p:txBody>
      </p:sp>
      <p:sp>
        <p:nvSpPr>
          <p:cNvPr id="17" name="Text 13"/>
          <p:cNvSpPr/>
          <p:nvPr/>
        </p:nvSpPr>
        <p:spPr>
          <a:xfrm>
            <a:off x="8339328" y="5760720"/>
            <a:ext cx="2980944" cy="18288"/>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MySQL stores users, events and logs.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Live demo plan</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Demo Flow and Key Pages</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Text 4"/>
          <p:cNvSpPr/>
          <p:nvPr/>
        </p:nvSpPr>
        <p:spPr>
          <a:xfrm>
            <a:off x="685800" y="1353312"/>
            <a:ext cx="4572000" cy="292608"/>
          </a:xfrm>
          <a:prstGeom prst="rect">
            <a:avLst/>
          </a:prstGeom>
          <a:noFill/>
          <a:ln/>
        </p:spPr>
        <p:txBody>
          <a:bodyPr wrap="square" lIns="0" tIns="0" rIns="0" bIns="0" rtlCol="0" anchor="ctr"/>
          <a:lstStyle/>
          <a:p>
            <a:pPr indent="0" marL="0">
              <a:buNone/>
            </a:pPr>
            <a:r>
              <a:rPr lang="en-US" sz="1800" b="1" dirty="0">
                <a:solidFill>
                  <a:srgbClr val="1F4E79"/>
                </a:solidFill>
              </a:rPr>
              <a:t>Recommended live demo order</a:t>
            </a:r>
            <a:endParaRPr lang="en-US" sz="1800" dirty="0"/>
          </a:p>
        </p:txBody>
      </p:sp>
      <p:sp>
        <p:nvSpPr>
          <p:cNvPr id="7" name="Shape 5"/>
          <p:cNvSpPr/>
          <p:nvPr/>
        </p:nvSpPr>
        <p:spPr>
          <a:xfrm>
            <a:off x="777240" y="1783080"/>
            <a:ext cx="457200" cy="457200"/>
          </a:xfrm>
          <a:prstGeom prst="ellipse">
            <a:avLst/>
          </a:prstGeom>
          <a:solidFill>
            <a:srgbClr val="1F4E79"/>
          </a:solidFill>
          <a:ln w="12700">
            <a:solidFill>
              <a:srgbClr val="1F4E79"/>
            </a:solidFill>
            <a:prstDash val="solid"/>
          </a:ln>
        </p:spPr>
      </p:sp>
      <p:sp>
        <p:nvSpPr>
          <p:cNvPr id="8" name="Text 6"/>
          <p:cNvSpPr/>
          <p:nvPr/>
        </p:nvSpPr>
        <p:spPr>
          <a:xfrm>
            <a:off x="777240" y="1901952"/>
            <a:ext cx="457200"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hape 7"/>
          <p:cNvSpPr/>
          <p:nvPr/>
        </p:nvSpPr>
        <p:spPr>
          <a:xfrm>
            <a:off x="1417320" y="1673352"/>
            <a:ext cx="9646920" cy="685800"/>
          </a:xfrm>
          <a:prstGeom prst="roundRect">
            <a:avLst>
              <a:gd name="adj" fmla="val 16000"/>
            </a:avLst>
          </a:prstGeom>
          <a:solidFill>
            <a:srgbClr val="F1F7FF"/>
          </a:solidFill>
          <a:ln w="12700">
            <a:solidFill>
              <a:srgbClr val="BBD6F4"/>
            </a:solidFill>
            <a:prstDash val="solid"/>
          </a:ln>
        </p:spPr>
      </p:sp>
      <p:sp>
        <p:nvSpPr>
          <p:cNvPr id="10" name="Text 8"/>
          <p:cNvSpPr/>
          <p:nvPr/>
        </p:nvSpPr>
        <p:spPr>
          <a:xfrm>
            <a:off x="1618488" y="1874520"/>
            <a:ext cx="9244584" cy="256032"/>
          </a:xfrm>
          <a:prstGeom prst="rect">
            <a:avLst/>
          </a:prstGeom>
          <a:noFill/>
          <a:ln/>
        </p:spPr>
        <p:txBody>
          <a:bodyPr wrap="square" lIns="0" tIns="0" rIns="0" bIns="0" rtlCol="0" anchor="ctr"/>
          <a:lstStyle/>
          <a:p>
            <a:pPr indent="0" marL="0">
              <a:buNone/>
            </a:pPr>
            <a:r>
              <a:rPr lang="en-US" sz="1500" b="1" dirty="0">
                <a:solidFill>
                  <a:srgbClr val="1F4E79"/>
                </a:solidFill>
              </a:rPr>
              <a:t>Login</a:t>
            </a:r>
            <a:endParaRPr lang="en-US" sz="1500" dirty="0"/>
          </a:p>
        </p:txBody>
      </p:sp>
      <p:sp>
        <p:nvSpPr>
          <p:cNvPr id="11" name="Text 9"/>
          <p:cNvSpPr/>
          <p:nvPr/>
        </p:nvSpPr>
        <p:spPr>
          <a:xfrm>
            <a:off x="1618488" y="2240280"/>
            <a:ext cx="9244584" cy="-457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Show admin login with password_verify and session creation.</a:t>
            </a:r>
            <a:endParaRPr lang="en-US" sz="1250" dirty="0"/>
          </a:p>
        </p:txBody>
      </p:sp>
      <p:sp>
        <p:nvSpPr>
          <p:cNvPr id="12" name="Shape 10"/>
          <p:cNvSpPr/>
          <p:nvPr/>
        </p:nvSpPr>
        <p:spPr>
          <a:xfrm>
            <a:off x="777240" y="2633472"/>
            <a:ext cx="457200" cy="457200"/>
          </a:xfrm>
          <a:prstGeom prst="ellipse">
            <a:avLst/>
          </a:prstGeom>
          <a:solidFill>
            <a:srgbClr val="1F4E79"/>
          </a:solidFill>
          <a:ln w="12700">
            <a:solidFill>
              <a:srgbClr val="1F4E79"/>
            </a:solidFill>
            <a:prstDash val="solid"/>
          </a:ln>
        </p:spPr>
      </p:sp>
      <p:sp>
        <p:nvSpPr>
          <p:cNvPr id="13" name="Text 11"/>
          <p:cNvSpPr/>
          <p:nvPr/>
        </p:nvSpPr>
        <p:spPr>
          <a:xfrm>
            <a:off x="777240" y="2752344"/>
            <a:ext cx="457200"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Shape 12"/>
          <p:cNvSpPr/>
          <p:nvPr/>
        </p:nvSpPr>
        <p:spPr>
          <a:xfrm>
            <a:off x="1417320" y="2523744"/>
            <a:ext cx="9646920" cy="685800"/>
          </a:xfrm>
          <a:prstGeom prst="roundRect">
            <a:avLst>
              <a:gd name="adj" fmla="val 16000"/>
            </a:avLst>
          </a:prstGeom>
          <a:solidFill>
            <a:srgbClr val="F0FBF4"/>
          </a:solidFill>
          <a:ln w="12700">
            <a:solidFill>
              <a:srgbClr val="BDE7C5"/>
            </a:solidFill>
            <a:prstDash val="solid"/>
          </a:ln>
        </p:spPr>
      </p:sp>
      <p:sp>
        <p:nvSpPr>
          <p:cNvPr id="15" name="Text 13"/>
          <p:cNvSpPr/>
          <p:nvPr/>
        </p:nvSpPr>
        <p:spPr>
          <a:xfrm>
            <a:off x="1618488" y="2724912"/>
            <a:ext cx="9244584" cy="256032"/>
          </a:xfrm>
          <a:prstGeom prst="rect">
            <a:avLst/>
          </a:prstGeom>
          <a:noFill/>
          <a:ln/>
        </p:spPr>
        <p:txBody>
          <a:bodyPr wrap="square" lIns="0" tIns="0" rIns="0" bIns="0" rtlCol="0" anchor="ctr"/>
          <a:lstStyle/>
          <a:p>
            <a:pPr indent="0" marL="0">
              <a:buNone/>
            </a:pPr>
            <a:r>
              <a:rPr lang="en-US" sz="1500" b="1" dirty="0">
                <a:solidFill>
                  <a:srgbClr val="1F4E79"/>
                </a:solidFill>
              </a:rPr>
              <a:t>Admin Dashboard</a:t>
            </a:r>
            <a:endParaRPr lang="en-US" sz="1500" dirty="0"/>
          </a:p>
        </p:txBody>
      </p:sp>
      <p:sp>
        <p:nvSpPr>
          <p:cNvPr id="16" name="Text 14"/>
          <p:cNvSpPr/>
          <p:nvPr/>
        </p:nvSpPr>
        <p:spPr>
          <a:xfrm>
            <a:off x="1618488" y="3090672"/>
            <a:ext cx="9244584" cy="-457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Explain role-based access and protected admin pages.</a:t>
            </a:r>
            <a:endParaRPr lang="en-US" sz="1250" dirty="0"/>
          </a:p>
        </p:txBody>
      </p:sp>
      <p:sp>
        <p:nvSpPr>
          <p:cNvPr id="17" name="Shape 15"/>
          <p:cNvSpPr/>
          <p:nvPr/>
        </p:nvSpPr>
        <p:spPr>
          <a:xfrm>
            <a:off x="777240" y="3483864"/>
            <a:ext cx="457200" cy="457200"/>
          </a:xfrm>
          <a:prstGeom prst="ellipse">
            <a:avLst/>
          </a:prstGeom>
          <a:solidFill>
            <a:srgbClr val="1F4E79"/>
          </a:solidFill>
          <a:ln w="12700">
            <a:solidFill>
              <a:srgbClr val="1F4E79"/>
            </a:solidFill>
            <a:prstDash val="solid"/>
          </a:ln>
        </p:spPr>
      </p:sp>
      <p:sp>
        <p:nvSpPr>
          <p:cNvPr id="18" name="Text 16"/>
          <p:cNvSpPr/>
          <p:nvPr/>
        </p:nvSpPr>
        <p:spPr>
          <a:xfrm>
            <a:off x="777240" y="3602736"/>
            <a:ext cx="457200"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Shape 17"/>
          <p:cNvSpPr/>
          <p:nvPr/>
        </p:nvSpPr>
        <p:spPr>
          <a:xfrm>
            <a:off x="1417320" y="3374136"/>
            <a:ext cx="9646920" cy="685800"/>
          </a:xfrm>
          <a:prstGeom prst="roundRect">
            <a:avLst>
              <a:gd name="adj" fmla="val 16000"/>
            </a:avLst>
          </a:prstGeom>
          <a:solidFill>
            <a:srgbClr val="F1F7FF"/>
          </a:solidFill>
          <a:ln w="12700">
            <a:solidFill>
              <a:srgbClr val="BBD6F4"/>
            </a:solidFill>
            <a:prstDash val="solid"/>
          </a:ln>
        </p:spPr>
      </p:sp>
      <p:sp>
        <p:nvSpPr>
          <p:cNvPr id="20" name="Text 18"/>
          <p:cNvSpPr/>
          <p:nvPr/>
        </p:nvSpPr>
        <p:spPr>
          <a:xfrm>
            <a:off x="1618488" y="3575304"/>
            <a:ext cx="9244584" cy="256032"/>
          </a:xfrm>
          <a:prstGeom prst="rect">
            <a:avLst/>
          </a:prstGeom>
          <a:noFill/>
          <a:ln/>
        </p:spPr>
        <p:txBody>
          <a:bodyPr wrap="square" lIns="0" tIns="0" rIns="0" bIns="0" rtlCol="0" anchor="ctr"/>
          <a:lstStyle/>
          <a:p>
            <a:pPr indent="0" marL="0">
              <a:buNone/>
            </a:pPr>
            <a:r>
              <a:rPr lang="en-US" sz="1500" b="1" dirty="0">
                <a:solidFill>
                  <a:srgbClr val="1F4E79"/>
                </a:solidFill>
              </a:rPr>
              <a:t>Event CRUD</a:t>
            </a:r>
            <a:endParaRPr lang="en-US" sz="1500" dirty="0"/>
          </a:p>
        </p:txBody>
      </p:sp>
      <p:sp>
        <p:nvSpPr>
          <p:cNvPr id="21" name="Text 19"/>
          <p:cNvSpPr/>
          <p:nvPr/>
        </p:nvSpPr>
        <p:spPr>
          <a:xfrm>
            <a:off x="1618488" y="3941064"/>
            <a:ext cx="9244584" cy="-457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Create or edit an event and show validation messages.</a:t>
            </a:r>
            <a:endParaRPr lang="en-US" sz="1250" dirty="0"/>
          </a:p>
        </p:txBody>
      </p:sp>
      <p:sp>
        <p:nvSpPr>
          <p:cNvPr id="22" name="Shape 20"/>
          <p:cNvSpPr/>
          <p:nvPr/>
        </p:nvSpPr>
        <p:spPr>
          <a:xfrm>
            <a:off x="777240" y="4334256"/>
            <a:ext cx="457200" cy="457200"/>
          </a:xfrm>
          <a:prstGeom prst="ellipse">
            <a:avLst/>
          </a:prstGeom>
          <a:solidFill>
            <a:srgbClr val="1F4E79"/>
          </a:solidFill>
          <a:ln w="12700">
            <a:solidFill>
              <a:srgbClr val="1F4E79"/>
            </a:solidFill>
            <a:prstDash val="solid"/>
          </a:ln>
        </p:spPr>
      </p:sp>
      <p:sp>
        <p:nvSpPr>
          <p:cNvPr id="23" name="Text 21"/>
          <p:cNvSpPr/>
          <p:nvPr/>
        </p:nvSpPr>
        <p:spPr>
          <a:xfrm>
            <a:off x="777240" y="4453128"/>
            <a:ext cx="457200" cy="16459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4" name="Shape 22"/>
          <p:cNvSpPr/>
          <p:nvPr/>
        </p:nvSpPr>
        <p:spPr>
          <a:xfrm>
            <a:off x="1417320" y="4224528"/>
            <a:ext cx="9646920" cy="685800"/>
          </a:xfrm>
          <a:prstGeom prst="roundRect">
            <a:avLst>
              <a:gd name="adj" fmla="val 16000"/>
            </a:avLst>
          </a:prstGeom>
          <a:solidFill>
            <a:srgbClr val="F0FBF4"/>
          </a:solidFill>
          <a:ln w="12700">
            <a:solidFill>
              <a:srgbClr val="BDE7C5"/>
            </a:solidFill>
            <a:prstDash val="solid"/>
          </a:ln>
        </p:spPr>
      </p:sp>
      <p:sp>
        <p:nvSpPr>
          <p:cNvPr id="25" name="Text 23"/>
          <p:cNvSpPr/>
          <p:nvPr/>
        </p:nvSpPr>
        <p:spPr>
          <a:xfrm>
            <a:off x="1618488" y="4425696"/>
            <a:ext cx="9244584" cy="256032"/>
          </a:xfrm>
          <a:prstGeom prst="rect">
            <a:avLst/>
          </a:prstGeom>
          <a:noFill/>
          <a:ln/>
        </p:spPr>
        <p:txBody>
          <a:bodyPr wrap="square" lIns="0" tIns="0" rIns="0" bIns="0" rtlCol="0" anchor="ctr"/>
          <a:lstStyle/>
          <a:p>
            <a:pPr indent="0" marL="0">
              <a:buNone/>
            </a:pPr>
            <a:r>
              <a:rPr lang="en-US" sz="1500" b="1" dirty="0">
                <a:solidFill>
                  <a:srgbClr val="1F4E79"/>
                </a:solidFill>
              </a:rPr>
              <a:t>User Booking</a:t>
            </a:r>
            <a:endParaRPr lang="en-US" sz="1500" dirty="0"/>
          </a:p>
        </p:txBody>
      </p:sp>
      <p:sp>
        <p:nvSpPr>
          <p:cNvPr id="26" name="Text 24"/>
          <p:cNvSpPr/>
          <p:nvPr/>
        </p:nvSpPr>
        <p:spPr>
          <a:xfrm>
            <a:off x="1618488" y="4791456"/>
            <a:ext cx="9244584" cy="-457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Login as user, search an event and submit ticket request.</a:t>
            </a:r>
            <a:endParaRPr lang="en-US" sz="1250" dirty="0"/>
          </a:p>
        </p:txBody>
      </p:sp>
      <p:sp>
        <p:nvSpPr>
          <p:cNvPr id="27" name="Shape 25"/>
          <p:cNvSpPr/>
          <p:nvPr/>
        </p:nvSpPr>
        <p:spPr>
          <a:xfrm>
            <a:off x="777240" y="5184648"/>
            <a:ext cx="457200" cy="457200"/>
          </a:xfrm>
          <a:prstGeom prst="ellipse">
            <a:avLst/>
          </a:prstGeom>
          <a:solidFill>
            <a:srgbClr val="1F4E79"/>
          </a:solidFill>
          <a:ln w="12700">
            <a:solidFill>
              <a:srgbClr val="1F4E79"/>
            </a:solidFill>
            <a:prstDash val="solid"/>
          </a:ln>
        </p:spPr>
      </p:sp>
      <p:sp>
        <p:nvSpPr>
          <p:cNvPr id="28" name="Text 26"/>
          <p:cNvSpPr/>
          <p:nvPr/>
        </p:nvSpPr>
        <p:spPr>
          <a:xfrm>
            <a:off x="777240" y="5303520"/>
            <a:ext cx="457200" cy="164592"/>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9" name="Shape 27"/>
          <p:cNvSpPr/>
          <p:nvPr/>
        </p:nvSpPr>
        <p:spPr>
          <a:xfrm>
            <a:off x="1417320" y="5074920"/>
            <a:ext cx="9646920" cy="685800"/>
          </a:xfrm>
          <a:prstGeom prst="roundRect">
            <a:avLst>
              <a:gd name="adj" fmla="val 16000"/>
            </a:avLst>
          </a:prstGeom>
          <a:solidFill>
            <a:srgbClr val="F1F7FF"/>
          </a:solidFill>
          <a:ln w="12700">
            <a:solidFill>
              <a:srgbClr val="BBD6F4"/>
            </a:solidFill>
            <a:prstDash val="solid"/>
          </a:ln>
        </p:spPr>
      </p:sp>
      <p:sp>
        <p:nvSpPr>
          <p:cNvPr id="30" name="Text 28"/>
          <p:cNvSpPr/>
          <p:nvPr/>
        </p:nvSpPr>
        <p:spPr>
          <a:xfrm>
            <a:off x="1618488" y="5276088"/>
            <a:ext cx="9244584" cy="256032"/>
          </a:xfrm>
          <a:prstGeom prst="rect">
            <a:avLst/>
          </a:prstGeom>
          <a:noFill/>
          <a:ln/>
        </p:spPr>
        <p:txBody>
          <a:bodyPr wrap="square" lIns="0" tIns="0" rIns="0" bIns="0" rtlCol="0" anchor="ctr"/>
          <a:lstStyle/>
          <a:p>
            <a:pPr indent="0" marL="0">
              <a:buNone/>
            </a:pPr>
            <a:r>
              <a:rPr lang="en-US" sz="1500" b="1" dirty="0">
                <a:solidFill>
                  <a:srgbClr val="1F4E79"/>
                </a:solidFill>
              </a:rPr>
              <a:t>AI Help</a:t>
            </a:r>
            <a:endParaRPr lang="en-US" sz="1500" dirty="0"/>
          </a:p>
        </p:txBody>
      </p:sp>
      <p:sp>
        <p:nvSpPr>
          <p:cNvPr id="31" name="Text 29"/>
          <p:cNvSpPr/>
          <p:nvPr/>
        </p:nvSpPr>
        <p:spPr>
          <a:xfrm>
            <a:off x="1618488" y="5641848"/>
            <a:ext cx="9244584" cy="-457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Ask a help question and show human review disclaimer.</a:t>
            </a:r>
            <a:endParaRPr lang="en-US" sz="1250" dirty="0"/>
          </a:p>
        </p:txBody>
      </p:sp>
      <p:sp>
        <p:nvSpPr>
          <p:cNvPr id="32" name="Text 30"/>
          <p:cNvSpPr/>
          <p:nvPr/>
        </p:nvSpPr>
        <p:spPr>
          <a:xfrm>
            <a:off x="1097280" y="6236208"/>
            <a:ext cx="9966960" cy="228600"/>
          </a:xfrm>
          <a:prstGeom prst="rect">
            <a:avLst/>
          </a:prstGeom>
          <a:noFill/>
          <a:ln/>
        </p:spPr>
        <p:txBody>
          <a:bodyPr wrap="square" lIns="0" tIns="0" rIns="0" bIns="0" rtlCol="0" anchor="ctr"/>
          <a:lstStyle/>
          <a:p>
            <a:pPr algn="ctr" indent="0" marL="0">
              <a:buNone/>
            </a:pPr>
            <a:r>
              <a:rPr lang="en-US" sz="1300" dirty="0">
                <a:solidFill>
                  <a:srgbClr val="6B7280"/>
                </a:solidFill>
              </a:rPr>
              <a:t>Tip for class: open login.php first, then move to admin/events.php and booking pages.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Security</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Security and Data Handling</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Shape 4"/>
          <p:cNvSpPr/>
          <p:nvPr/>
        </p:nvSpPr>
        <p:spPr>
          <a:xfrm>
            <a:off x="685800" y="1417320"/>
            <a:ext cx="3337560" cy="1371600"/>
          </a:xfrm>
          <a:prstGeom prst="roundRect">
            <a:avLst>
              <a:gd name="adj" fmla="val 8000"/>
            </a:avLst>
          </a:prstGeom>
          <a:solidFill>
            <a:srgbClr val="F1F7FF"/>
          </a:solidFill>
          <a:ln w="12700">
            <a:solidFill>
              <a:srgbClr val="BBD6F4"/>
            </a:solidFill>
            <a:prstDash val="solid"/>
          </a:ln>
        </p:spPr>
      </p:sp>
      <p:sp>
        <p:nvSpPr>
          <p:cNvPr id="7" name="Text 5"/>
          <p:cNvSpPr/>
          <p:nvPr/>
        </p:nvSpPr>
        <p:spPr>
          <a:xfrm>
            <a:off x="886968" y="161848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Authentication</a:t>
            </a:r>
            <a:endParaRPr lang="en-US" sz="1500" dirty="0"/>
          </a:p>
        </p:txBody>
      </p:sp>
      <p:sp>
        <p:nvSpPr>
          <p:cNvPr id="8" name="Text 6"/>
          <p:cNvSpPr/>
          <p:nvPr/>
        </p:nvSpPr>
        <p:spPr>
          <a:xfrm>
            <a:off x="886968" y="198424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PHP sessions, password_hash and password_verify protect accounts and login workflow.</a:t>
            </a:r>
            <a:endParaRPr lang="en-US" sz="1250" dirty="0"/>
          </a:p>
        </p:txBody>
      </p:sp>
      <p:sp>
        <p:nvSpPr>
          <p:cNvPr id="9" name="Shape 7"/>
          <p:cNvSpPr/>
          <p:nvPr/>
        </p:nvSpPr>
        <p:spPr>
          <a:xfrm>
            <a:off x="4434840" y="1417320"/>
            <a:ext cx="3337560" cy="1371600"/>
          </a:xfrm>
          <a:prstGeom prst="roundRect">
            <a:avLst>
              <a:gd name="adj" fmla="val 8000"/>
            </a:avLst>
          </a:prstGeom>
          <a:solidFill>
            <a:srgbClr val="F0FBF4"/>
          </a:solidFill>
          <a:ln w="12700">
            <a:solidFill>
              <a:srgbClr val="BDE7C5"/>
            </a:solidFill>
            <a:prstDash val="solid"/>
          </a:ln>
        </p:spPr>
      </p:sp>
      <p:sp>
        <p:nvSpPr>
          <p:cNvPr id="10" name="Text 8"/>
          <p:cNvSpPr/>
          <p:nvPr/>
        </p:nvSpPr>
        <p:spPr>
          <a:xfrm>
            <a:off x="4636008" y="161848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Access control</a:t>
            </a:r>
            <a:endParaRPr lang="en-US" sz="1500" dirty="0"/>
          </a:p>
        </p:txBody>
      </p:sp>
      <p:sp>
        <p:nvSpPr>
          <p:cNvPr id="11" name="Text 9"/>
          <p:cNvSpPr/>
          <p:nvPr/>
        </p:nvSpPr>
        <p:spPr>
          <a:xfrm>
            <a:off x="4636008" y="198424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Admin-only pages check the logged-in user role before allowing actions.</a:t>
            </a:r>
            <a:endParaRPr lang="en-US" sz="1250" dirty="0"/>
          </a:p>
        </p:txBody>
      </p:sp>
      <p:sp>
        <p:nvSpPr>
          <p:cNvPr id="12" name="Shape 10"/>
          <p:cNvSpPr/>
          <p:nvPr/>
        </p:nvSpPr>
        <p:spPr>
          <a:xfrm>
            <a:off x="8183880" y="1417320"/>
            <a:ext cx="3337560" cy="1371600"/>
          </a:xfrm>
          <a:prstGeom prst="roundRect">
            <a:avLst>
              <a:gd name="adj" fmla="val 8000"/>
            </a:avLst>
          </a:prstGeom>
          <a:solidFill>
            <a:srgbClr val="FFF8ED"/>
          </a:solidFill>
          <a:ln w="12700">
            <a:solidFill>
              <a:srgbClr val="F3D29B"/>
            </a:solidFill>
            <a:prstDash val="solid"/>
          </a:ln>
        </p:spPr>
      </p:sp>
      <p:sp>
        <p:nvSpPr>
          <p:cNvPr id="13" name="Text 11"/>
          <p:cNvSpPr/>
          <p:nvPr/>
        </p:nvSpPr>
        <p:spPr>
          <a:xfrm>
            <a:off x="8385048" y="161848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Database security</a:t>
            </a:r>
            <a:endParaRPr lang="en-US" sz="1500" dirty="0"/>
          </a:p>
        </p:txBody>
      </p:sp>
      <p:sp>
        <p:nvSpPr>
          <p:cNvPr id="14" name="Text 12"/>
          <p:cNvSpPr/>
          <p:nvPr/>
        </p:nvSpPr>
        <p:spPr>
          <a:xfrm>
            <a:off x="8385048" y="198424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PDO prepared statements reduce SQL injection risk in forms and search.</a:t>
            </a:r>
            <a:endParaRPr lang="en-US" sz="1250" dirty="0"/>
          </a:p>
        </p:txBody>
      </p:sp>
      <p:sp>
        <p:nvSpPr>
          <p:cNvPr id="15" name="Shape 13"/>
          <p:cNvSpPr/>
          <p:nvPr/>
        </p:nvSpPr>
        <p:spPr>
          <a:xfrm>
            <a:off x="685800" y="3429000"/>
            <a:ext cx="3337560" cy="1371600"/>
          </a:xfrm>
          <a:prstGeom prst="roundRect">
            <a:avLst>
              <a:gd name="adj" fmla="val 8000"/>
            </a:avLst>
          </a:prstGeom>
          <a:solidFill>
            <a:srgbClr val="F8FAFC"/>
          </a:solidFill>
          <a:ln w="12700">
            <a:solidFill>
              <a:srgbClr val="D7E0EA"/>
            </a:solidFill>
            <a:prstDash val="solid"/>
          </a:ln>
        </p:spPr>
      </p:sp>
      <p:sp>
        <p:nvSpPr>
          <p:cNvPr id="16" name="Text 14"/>
          <p:cNvSpPr/>
          <p:nvPr/>
        </p:nvSpPr>
        <p:spPr>
          <a:xfrm>
            <a:off x="886968" y="363016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Validation</a:t>
            </a:r>
            <a:endParaRPr lang="en-US" sz="1500" dirty="0"/>
          </a:p>
        </p:txBody>
      </p:sp>
      <p:sp>
        <p:nvSpPr>
          <p:cNvPr id="17" name="Text 15"/>
          <p:cNvSpPr/>
          <p:nvPr/>
        </p:nvSpPr>
        <p:spPr>
          <a:xfrm>
            <a:off x="886968" y="399592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Client-side and server-side checks reduce incorrect or incomplete records.</a:t>
            </a:r>
            <a:endParaRPr lang="en-US" sz="1250" dirty="0"/>
          </a:p>
        </p:txBody>
      </p:sp>
      <p:sp>
        <p:nvSpPr>
          <p:cNvPr id="18" name="Shape 16"/>
          <p:cNvSpPr/>
          <p:nvPr/>
        </p:nvSpPr>
        <p:spPr>
          <a:xfrm>
            <a:off x="4434840" y="3429000"/>
            <a:ext cx="3337560" cy="1371600"/>
          </a:xfrm>
          <a:prstGeom prst="roundRect">
            <a:avLst>
              <a:gd name="adj" fmla="val 8000"/>
            </a:avLst>
          </a:prstGeom>
          <a:solidFill>
            <a:srgbClr val="F8FAFC"/>
          </a:solidFill>
          <a:ln w="12700">
            <a:solidFill>
              <a:srgbClr val="D7E0EA"/>
            </a:solidFill>
            <a:prstDash val="solid"/>
          </a:ln>
        </p:spPr>
      </p:sp>
      <p:sp>
        <p:nvSpPr>
          <p:cNvPr id="19" name="Text 17"/>
          <p:cNvSpPr/>
          <p:nvPr/>
        </p:nvSpPr>
        <p:spPr>
          <a:xfrm>
            <a:off x="4636008" y="363016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Auditability</a:t>
            </a:r>
            <a:endParaRPr lang="en-US" sz="1500" dirty="0"/>
          </a:p>
        </p:txBody>
      </p:sp>
      <p:sp>
        <p:nvSpPr>
          <p:cNvPr id="20" name="Text 18"/>
          <p:cNvSpPr/>
          <p:nvPr/>
        </p:nvSpPr>
        <p:spPr>
          <a:xfrm>
            <a:off x="4636008" y="399592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created_at, updated_at, created_by and activity logs support accountability.</a:t>
            </a:r>
            <a:endParaRPr lang="en-US" sz="1250" dirty="0"/>
          </a:p>
        </p:txBody>
      </p:sp>
      <p:sp>
        <p:nvSpPr>
          <p:cNvPr id="21" name="Shape 19"/>
          <p:cNvSpPr/>
          <p:nvPr/>
        </p:nvSpPr>
        <p:spPr>
          <a:xfrm>
            <a:off x="8183880" y="3429000"/>
            <a:ext cx="3337560" cy="1371600"/>
          </a:xfrm>
          <a:prstGeom prst="roundRect">
            <a:avLst>
              <a:gd name="adj" fmla="val 8000"/>
            </a:avLst>
          </a:prstGeom>
          <a:solidFill>
            <a:srgbClr val="F8FAFC"/>
          </a:solidFill>
          <a:ln w="12700">
            <a:solidFill>
              <a:srgbClr val="D7E0EA"/>
            </a:solidFill>
            <a:prstDash val="solid"/>
          </a:ln>
        </p:spPr>
      </p:sp>
      <p:sp>
        <p:nvSpPr>
          <p:cNvPr id="22" name="Text 20"/>
          <p:cNvSpPr/>
          <p:nvPr/>
        </p:nvSpPr>
        <p:spPr>
          <a:xfrm>
            <a:off x="8385048" y="363016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AI safety</a:t>
            </a:r>
            <a:endParaRPr lang="en-US" sz="1500" dirty="0"/>
          </a:p>
        </p:txBody>
      </p:sp>
      <p:sp>
        <p:nvSpPr>
          <p:cNvPr id="23" name="Text 21"/>
          <p:cNvSpPr/>
          <p:nvPr/>
        </p:nvSpPr>
        <p:spPr>
          <a:xfrm>
            <a:off x="8385048" y="3995928"/>
            <a:ext cx="2935224" cy="64008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No sensitive data is sent to public AI tools; responses require human review.</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AI integration</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Responsible AI Feature</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Text 4"/>
          <p:cNvSpPr/>
          <p:nvPr/>
        </p:nvSpPr>
        <p:spPr>
          <a:xfrm>
            <a:off x="685800" y="1325880"/>
            <a:ext cx="4754880" cy="384048"/>
          </a:xfrm>
          <a:prstGeom prst="rect">
            <a:avLst/>
          </a:prstGeom>
          <a:noFill/>
          <a:ln/>
        </p:spPr>
        <p:txBody>
          <a:bodyPr wrap="square" lIns="0" tIns="0" rIns="0" bIns="0" rtlCol="0" anchor="ctr"/>
          <a:lstStyle/>
          <a:p>
            <a:pPr indent="0" marL="0">
              <a:buNone/>
            </a:pPr>
            <a:r>
              <a:rPr lang="en-US" sz="2100" b="1" dirty="0">
                <a:solidFill>
                  <a:srgbClr val="1F4E79"/>
                </a:solidFill>
              </a:rPr>
              <a:t>Chosen AI option: Smart Assistant</a:t>
            </a:r>
            <a:endParaRPr lang="en-US" sz="2100" dirty="0"/>
          </a:p>
        </p:txBody>
      </p:sp>
      <p:sp>
        <p:nvSpPr>
          <p:cNvPr id="7" name="Text 5"/>
          <p:cNvSpPr/>
          <p:nvPr/>
        </p:nvSpPr>
        <p:spPr>
          <a:xfrm>
            <a:off x="685800" y="1810512"/>
            <a:ext cx="5486400" cy="566928"/>
          </a:xfrm>
          <a:prstGeom prst="rect">
            <a:avLst/>
          </a:prstGeom>
          <a:noFill/>
          <a:ln/>
        </p:spPr>
        <p:txBody>
          <a:bodyPr wrap="square" lIns="254" tIns="254" rIns="254" bIns="254" rtlCol="0" anchor="ctr">
            <a:normAutofit/>
          </a:bodyPr>
          <a:lstStyle/>
          <a:p>
            <a:pPr indent="0" marL="0">
              <a:buNone/>
            </a:pPr>
            <a:r>
              <a:rPr lang="en-US" sz="1800" dirty="0">
                <a:solidFill>
                  <a:srgbClr val="1F2937"/>
                </a:solidFill>
              </a:rPr>
              <a:t>The assistant answers common system-use questions using a curated FAQ/knowledge base.</a:t>
            </a:r>
            <a:endParaRPr lang="en-US" sz="1800" dirty="0"/>
          </a:p>
        </p:txBody>
      </p:sp>
      <p:sp>
        <p:nvSpPr>
          <p:cNvPr id="8" name="Shape 6"/>
          <p:cNvSpPr/>
          <p:nvPr/>
        </p:nvSpPr>
        <p:spPr>
          <a:xfrm>
            <a:off x="777240" y="2880360"/>
            <a:ext cx="2103120" cy="1234440"/>
          </a:xfrm>
          <a:prstGeom prst="roundRect">
            <a:avLst>
              <a:gd name="adj" fmla="val 8889"/>
            </a:avLst>
          </a:prstGeom>
          <a:solidFill>
            <a:srgbClr val="F1F7FF"/>
          </a:solidFill>
          <a:ln w="12700">
            <a:solidFill>
              <a:srgbClr val="BBD6F4"/>
            </a:solidFill>
            <a:prstDash val="solid"/>
          </a:ln>
        </p:spPr>
      </p:sp>
      <p:sp>
        <p:nvSpPr>
          <p:cNvPr id="9" name="Text 7"/>
          <p:cNvSpPr/>
          <p:nvPr/>
        </p:nvSpPr>
        <p:spPr>
          <a:xfrm>
            <a:off x="978408" y="3081528"/>
            <a:ext cx="1700784" cy="256032"/>
          </a:xfrm>
          <a:prstGeom prst="rect">
            <a:avLst/>
          </a:prstGeom>
          <a:noFill/>
          <a:ln/>
        </p:spPr>
        <p:txBody>
          <a:bodyPr wrap="square" lIns="0" tIns="0" rIns="0" bIns="0" rtlCol="0" anchor="ctr"/>
          <a:lstStyle/>
          <a:p>
            <a:pPr indent="0" marL="0">
              <a:buNone/>
            </a:pPr>
            <a:r>
              <a:rPr lang="en-US" sz="1500" b="1" dirty="0">
                <a:solidFill>
                  <a:srgbClr val="1F4E79"/>
                </a:solidFill>
              </a:rPr>
              <a:t>Question</a:t>
            </a:r>
            <a:endParaRPr lang="en-US" sz="1500" dirty="0"/>
          </a:p>
        </p:txBody>
      </p:sp>
      <p:sp>
        <p:nvSpPr>
          <p:cNvPr id="10" name="Text 8"/>
          <p:cNvSpPr/>
          <p:nvPr/>
        </p:nvSpPr>
        <p:spPr>
          <a:xfrm>
            <a:off x="978408" y="3447288"/>
            <a:ext cx="1700784" cy="502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User asks how to use the system.</a:t>
            </a:r>
            <a:endParaRPr lang="en-US" sz="1250" dirty="0"/>
          </a:p>
        </p:txBody>
      </p:sp>
      <p:sp>
        <p:nvSpPr>
          <p:cNvPr id="11" name="Shape 9"/>
          <p:cNvSpPr/>
          <p:nvPr/>
        </p:nvSpPr>
        <p:spPr>
          <a:xfrm>
            <a:off x="2971800" y="3493008"/>
            <a:ext cx="960120" cy="0"/>
          </a:xfrm>
          <a:prstGeom prst="line">
            <a:avLst/>
          </a:prstGeom>
          <a:noFill/>
          <a:ln w="27940">
            <a:solidFill>
              <a:srgbClr val="6B7280"/>
            </a:solidFill>
            <a:prstDash val="solid"/>
            <a:headEnd type="none"/>
            <a:tailEnd type="triangle"/>
          </a:ln>
        </p:spPr>
      </p:sp>
      <p:sp>
        <p:nvSpPr>
          <p:cNvPr id="12" name="Shape 10"/>
          <p:cNvSpPr/>
          <p:nvPr/>
        </p:nvSpPr>
        <p:spPr>
          <a:xfrm>
            <a:off x="4023360" y="2880360"/>
            <a:ext cx="2103120" cy="1234440"/>
          </a:xfrm>
          <a:prstGeom prst="roundRect">
            <a:avLst>
              <a:gd name="adj" fmla="val 8889"/>
            </a:avLst>
          </a:prstGeom>
          <a:solidFill>
            <a:srgbClr val="FFF8ED"/>
          </a:solidFill>
          <a:ln w="12700">
            <a:solidFill>
              <a:srgbClr val="F3D29B"/>
            </a:solidFill>
            <a:prstDash val="solid"/>
          </a:ln>
        </p:spPr>
      </p:sp>
      <p:sp>
        <p:nvSpPr>
          <p:cNvPr id="13" name="Text 11"/>
          <p:cNvSpPr/>
          <p:nvPr/>
        </p:nvSpPr>
        <p:spPr>
          <a:xfrm>
            <a:off x="4224528" y="3081528"/>
            <a:ext cx="1700784" cy="256032"/>
          </a:xfrm>
          <a:prstGeom prst="rect">
            <a:avLst/>
          </a:prstGeom>
          <a:noFill/>
          <a:ln/>
        </p:spPr>
        <p:txBody>
          <a:bodyPr wrap="square" lIns="0" tIns="0" rIns="0" bIns="0" rtlCol="0" anchor="ctr"/>
          <a:lstStyle/>
          <a:p>
            <a:pPr indent="0" marL="0">
              <a:buNone/>
            </a:pPr>
            <a:r>
              <a:rPr lang="en-US" sz="1500" b="1" dirty="0">
                <a:solidFill>
                  <a:srgbClr val="1F4E79"/>
                </a:solidFill>
              </a:rPr>
              <a:t>Curated FAQ</a:t>
            </a:r>
            <a:endParaRPr lang="en-US" sz="1500" dirty="0"/>
          </a:p>
        </p:txBody>
      </p:sp>
      <p:sp>
        <p:nvSpPr>
          <p:cNvPr id="14" name="Text 12"/>
          <p:cNvSpPr/>
          <p:nvPr/>
        </p:nvSpPr>
        <p:spPr>
          <a:xfrm>
            <a:off x="4224528" y="3447288"/>
            <a:ext cx="1700784" cy="502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System matches safe local content.</a:t>
            </a:r>
            <a:endParaRPr lang="en-US" sz="1250" dirty="0"/>
          </a:p>
        </p:txBody>
      </p:sp>
      <p:sp>
        <p:nvSpPr>
          <p:cNvPr id="15" name="Shape 13"/>
          <p:cNvSpPr/>
          <p:nvPr/>
        </p:nvSpPr>
        <p:spPr>
          <a:xfrm>
            <a:off x="6236208" y="3493008"/>
            <a:ext cx="969264" cy="0"/>
          </a:xfrm>
          <a:prstGeom prst="line">
            <a:avLst/>
          </a:prstGeom>
          <a:noFill/>
          <a:ln w="27940">
            <a:solidFill>
              <a:srgbClr val="6B7280"/>
            </a:solidFill>
            <a:prstDash val="solid"/>
            <a:headEnd type="none"/>
            <a:tailEnd type="triangle"/>
          </a:ln>
        </p:spPr>
      </p:sp>
      <p:sp>
        <p:nvSpPr>
          <p:cNvPr id="16" name="Shape 14"/>
          <p:cNvSpPr/>
          <p:nvPr/>
        </p:nvSpPr>
        <p:spPr>
          <a:xfrm>
            <a:off x="7296912" y="2880360"/>
            <a:ext cx="2103120" cy="1234440"/>
          </a:xfrm>
          <a:prstGeom prst="roundRect">
            <a:avLst>
              <a:gd name="adj" fmla="val 8889"/>
            </a:avLst>
          </a:prstGeom>
          <a:solidFill>
            <a:srgbClr val="F0FBF4"/>
          </a:solidFill>
          <a:ln w="12700">
            <a:solidFill>
              <a:srgbClr val="BDE7C5"/>
            </a:solidFill>
            <a:prstDash val="solid"/>
          </a:ln>
        </p:spPr>
      </p:sp>
      <p:sp>
        <p:nvSpPr>
          <p:cNvPr id="17" name="Text 15"/>
          <p:cNvSpPr/>
          <p:nvPr/>
        </p:nvSpPr>
        <p:spPr>
          <a:xfrm>
            <a:off x="7498080" y="3081528"/>
            <a:ext cx="1700784" cy="256032"/>
          </a:xfrm>
          <a:prstGeom prst="rect">
            <a:avLst/>
          </a:prstGeom>
          <a:noFill/>
          <a:ln/>
        </p:spPr>
        <p:txBody>
          <a:bodyPr wrap="square" lIns="0" tIns="0" rIns="0" bIns="0" rtlCol="0" anchor="ctr"/>
          <a:lstStyle/>
          <a:p>
            <a:pPr indent="0" marL="0">
              <a:buNone/>
            </a:pPr>
            <a:r>
              <a:rPr lang="en-US" sz="1500" b="1" dirty="0">
                <a:solidFill>
                  <a:srgbClr val="1F4E79"/>
                </a:solidFill>
              </a:rPr>
              <a:t>Review</a:t>
            </a:r>
            <a:endParaRPr lang="en-US" sz="1500" dirty="0"/>
          </a:p>
        </p:txBody>
      </p:sp>
      <p:sp>
        <p:nvSpPr>
          <p:cNvPr id="18" name="Text 16"/>
          <p:cNvSpPr/>
          <p:nvPr/>
        </p:nvSpPr>
        <p:spPr>
          <a:xfrm>
            <a:off x="7498080" y="3447288"/>
            <a:ext cx="1700784" cy="502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User checks and edits the output.</a:t>
            </a:r>
            <a:endParaRPr lang="en-US" sz="1250" dirty="0"/>
          </a:p>
        </p:txBody>
      </p:sp>
      <p:sp>
        <p:nvSpPr>
          <p:cNvPr id="19" name="Shape 17"/>
          <p:cNvSpPr/>
          <p:nvPr/>
        </p:nvSpPr>
        <p:spPr>
          <a:xfrm>
            <a:off x="9491472" y="3493008"/>
            <a:ext cx="886968" cy="0"/>
          </a:xfrm>
          <a:prstGeom prst="line">
            <a:avLst/>
          </a:prstGeom>
          <a:noFill/>
          <a:ln w="27940">
            <a:solidFill>
              <a:srgbClr val="6B7280"/>
            </a:solidFill>
            <a:prstDash val="solid"/>
            <a:headEnd type="none"/>
            <a:tailEnd type="triangle"/>
          </a:ln>
        </p:spPr>
      </p:sp>
      <p:sp>
        <p:nvSpPr>
          <p:cNvPr id="20" name="Shape 18"/>
          <p:cNvSpPr/>
          <p:nvPr/>
        </p:nvSpPr>
        <p:spPr>
          <a:xfrm>
            <a:off x="10469880" y="2880360"/>
            <a:ext cx="1188720" cy="1234440"/>
          </a:xfrm>
          <a:prstGeom prst="roundRect">
            <a:avLst>
              <a:gd name="adj" fmla="val 9231"/>
            </a:avLst>
          </a:prstGeom>
          <a:solidFill>
            <a:srgbClr val="F8FAFC"/>
          </a:solidFill>
          <a:ln w="12700">
            <a:solidFill>
              <a:srgbClr val="D7E0EA"/>
            </a:solidFill>
            <a:prstDash val="solid"/>
          </a:ln>
        </p:spPr>
      </p:sp>
      <p:sp>
        <p:nvSpPr>
          <p:cNvPr id="21" name="Text 19"/>
          <p:cNvSpPr/>
          <p:nvPr/>
        </p:nvSpPr>
        <p:spPr>
          <a:xfrm>
            <a:off x="10671048" y="3081528"/>
            <a:ext cx="786384" cy="256032"/>
          </a:xfrm>
          <a:prstGeom prst="rect">
            <a:avLst/>
          </a:prstGeom>
          <a:noFill/>
          <a:ln/>
        </p:spPr>
        <p:txBody>
          <a:bodyPr wrap="square" lIns="0" tIns="0" rIns="0" bIns="0" rtlCol="0" anchor="ctr"/>
          <a:lstStyle/>
          <a:p>
            <a:pPr indent="0" marL="0">
              <a:buNone/>
            </a:pPr>
            <a:r>
              <a:rPr lang="en-US" sz="1500" b="1" dirty="0">
                <a:solidFill>
                  <a:srgbClr val="1F4E79"/>
                </a:solidFill>
              </a:rPr>
              <a:t>Save</a:t>
            </a:r>
            <a:endParaRPr lang="en-US" sz="1500" dirty="0"/>
          </a:p>
        </p:txBody>
      </p:sp>
      <p:sp>
        <p:nvSpPr>
          <p:cNvPr id="22" name="Text 20"/>
          <p:cNvSpPr/>
          <p:nvPr/>
        </p:nvSpPr>
        <p:spPr>
          <a:xfrm>
            <a:off x="10671048" y="3447288"/>
            <a:ext cx="786384" cy="502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Log accepted response.</a:t>
            </a:r>
            <a:endParaRPr lang="en-US" sz="1250" dirty="0"/>
          </a:p>
        </p:txBody>
      </p:sp>
      <p:sp>
        <p:nvSpPr>
          <p:cNvPr id="23" name="Shape 21"/>
          <p:cNvSpPr/>
          <p:nvPr/>
        </p:nvSpPr>
        <p:spPr>
          <a:xfrm>
            <a:off x="868680" y="5074920"/>
            <a:ext cx="10469880" cy="658368"/>
          </a:xfrm>
          <a:prstGeom prst="roundRect">
            <a:avLst>
              <a:gd name="adj" fmla="val 13889"/>
            </a:avLst>
          </a:prstGeom>
          <a:solidFill>
            <a:srgbClr val="FEF2F2"/>
          </a:solidFill>
          <a:ln w="12700">
            <a:solidFill>
              <a:srgbClr val="FECACA"/>
            </a:solidFill>
            <a:prstDash val="solid"/>
          </a:ln>
        </p:spPr>
      </p:sp>
      <p:sp>
        <p:nvSpPr>
          <p:cNvPr id="24" name="Text 22"/>
          <p:cNvSpPr/>
          <p:nvPr/>
        </p:nvSpPr>
        <p:spPr>
          <a:xfrm>
            <a:off x="1078992" y="5294376"/>
            <a:ext cx="10058400" cy="182880"/>
          </a:xfrm>
          <a:prstGeom prst="rect">
            <a:avLst/>
          </a:prstGeom>
          <a:noFill/>
          <a:ln/>
        </p:spPr>
        <p:txBody>
          <a:bodyPr wrap="square" lIns="0" tIns="0" rIns="0" bIns="0" rtlCol="0" anchor="ctr"/>
          <a:lstStyle/>
          <a:p>
            <a:pPr algn="ctr" indent="0" marL="0">
              <a:buNone/>
            </a:pPr>
            <a:r>
              <a:rPr lang="en-US" sz="1600" b="1" dirty="0">
                <a:solidFill>
                  <a:srgbClr val="991B1B"/>
                </a:solidFill>
              </a:rPr>
              <a:t>Disclaimer shown to users: AI-generated content requires human review. Do not enter sensitive personal data.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F4E79"/>
          </a:solidFill>
          <a:ln w="12700">
            <a:solidFill>
              <a:srgbClr val="1F4E79"/>
            </a:solidFill>
            <a:prstDash val="solid"/>
          </a:ln>
        </p:spPr>
      </p:sp>
      <p:sp>
        <p:nvSpPr>
          <p:cNvPr id="3" name="Text 1"/>
          <p:cNvSpPr/>
          <p:nvPr/>
        </p:nvSpPr>
        <p:spPr>
          <a:xfrm>
            <a:off x="548640" y="256032"/>
            <a:ext cx="2926080" cy="256032"/>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Conclusion</a:t>
            </a:r>
            <a:endParaRPr lang="en-US" sz="900" dirty="0"/>
          </a:p>
        </p:txBody>
      </p:sp>
      <p:sp>
        <p:nvSpPr>
          <p:cNvPr id="4" name="Text 2"/>
          <p:cNvSpPr/>
          <p:nvPr/>
        </p:nvSpPr>
        <p:spPr>
          <a:xfrm>
            <a:off x="548640" y="594360"/>
            <a:ext cx="11064240" cy="475488"/>
          </a:xfrm>
          <a:prstGeom prst="rect">
            <a:avLst/>
          </a:prstGeom>
          <a:noFill/>
          <a:ln/>
        </p:spPr>
        <p:txBody>
          <a:bodyPr wrap="square" lIns="0" tIns="0" rIns="0" bIns="0" rtlCol="0" anchor="ctr"/>
          <a:lstStyle/>
          <a:p>
            <a:pPr indent="0" marL="0">
              <a:buNone/>
            </a:pPr>
            <a:r>
              <a:rPr lang="en-US" sz="3000" b="1" dirty="0">
                <a:solidFill>
                  <a:srgbClr val="1F4E79"/>
                </a:solidFill>
                <a:latin typeface="Arial" pitchFamily="34" charset="0"/>
                <a:ea typeface="Arial" pitchFamily="34" charset="-122"/>
                <a:cs typeface="Arial" pitchFamily="34" charset="-120"/>
              </a:rPr>
              <a:t>Testing, Teamwork and Final Delivery</a:t>
            </a:r>
            <a:endParaRPr lang="en-US" sz="3000" dirty="0"/>
          </a:p>
        </p:txBody>
      </p:sp>
      <p:sp>
        <p:nvSpPr>
          <p:cNvPr id="5" name="Text 3"/>
          <p:cNvSpPr/>
          <p:nvPr/>
        </p:nvSpPr>
        <p:spPr>
          <a:xfrm>
            <a:off x="9098280" y="6473952"/>
            <a:ext cx="2514600" cy="164592"/>
          </a:xfrm>
          <a:prstGeom prst="rect">
            <a:avLst/>
          </a:prstGeom>
          <a:noFill/>
          <a:ln/>
        </p:spPr>
        <p:txBody>
          <a:bodyPr wrap="square" lIns="0" tIns="0" rIns="0" bIns="0" rtlCol="0" anchor="ctr"/>
          <a:lstStyle/>
          <a:p>
            <a:pPr algn="r" indent="0" marL="0">
              <a:buNone/>
            </a:pPr>
            <a:r>
              <a:rPr lang="en-US" sz="800" dirty="0">
                <a:solidFill>
                  <a:srgbClr val="6B7280"/>
                </a:solidFill>
              </a:rPr>
              <a:t>Smart Event Booking Pro</a:t>
            </a:r>
            <a:endParaRPr lang="en-US" sz="800" dirty="0"/>
          </a:p>
        </p:txBody>
      </p:sp>
      <p:sp>
        <p:nvSpPr>
          <p:cNvPr id="6" name="Shape 4"/>
          <p:cNvSpPr/>
          <p:nvPr/>
        </p:nvSpPr>
        <p:spPr>
          <a:xfrm>
            <a:off x="685800" y="1325880"/>
            <a:ext cx="3337560" cy="3520440"/>
          </a:xfrm>
          <a:prstGeom prst="roundRect">
            <a:avLst>
              <a:gd name="adj" fmla="val 3288"/>
            </a:avLst>
          </a:prstGeom>
          <a:solidFill>
            <a:srgbClr val="F1F7FF"/>
          </a:solidFill>
          <a:ln w="12700">
            <a:solidFill>
              <a:srgbClr val="BBD6F4"/>
            </a:solidFill>
            <a:prstDash val="solid"/>
          </a:ln>
        </p:spPr>
      </p:sp>
      <p:sp>
        <p:nvSpPr>
          <p:cNvPr id="7" name="Text 5"/>
          <p:cNvSpPr/>
          <p:nvPr/>
        </p:nvSpPr>
        <p:spPr>
          <a:xfrm>
            <a:off x="886968" y="152704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Testing evidence</a:t>
            </a:r>
            <a:endParaRPr lang="en-US" sz="1500" dirty="0"/>
          </a:p>
        </p:txBody>
      </p:sp>
      <p:sp>
        <p:nvSpPr>
          <p:cNvPr id="8" name="Text 6"/>
          <p:cNvSpPr/>
          <p:nvPr/>
        </p:nvSpPr>
        <p:spPr>
          <a:xfrm>
            <a:off x="886968" y="1892808"/>
            <a:ext cx="2935224" cy="2788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14 planned test cases cover login, role access, event CRUD, booking validation, search/filter, AI assistant, responsiveness and activity logging.</a:t>
            </a:r>
            <a:endParaRPr lang="en-US" sz="1250" dirty="0"/>
          </a:p>
        </p:txBody>
      </p:sp>
      <p:sp>
        <p:nvSpPr>
          <p:cNvPr id="9" name="Shape 7"/>
          <p:cNvSpPr/>
          <p:nvPr/>
        </p:nvSpPr>
        <p:spPr>
          <a:xfrm>
            <a:off x="4434840" y="1325880"/>
            <a:ext cx="3337560" cy="3520440"/>
          </a:xfrm>
          <a:prstGeom prst="roundRect">
            <a:avLst>
              <a:gd name="adj" fmla="val 3288"/>
            </a:avLst>
          </a:prstGeom>
          <a:solidFill>
            <a:srgbClr val="F0FBF4"/>
          </a:solidFill>
          <a:ln w="12700">
            <a:solidFill>
              <a:srgbClr val="BDE7C5"/>
            </a:solidFill>
            <a:prstDash val="solid"/>
          </a:ln>
        </p:spPr>
      </p:sp>
      <p:sp>
        <p:nvSpPr>
          <p:cNvPr id="10" name="Text 8"/>
          <p:cNvSpPr/>
          <p:nvPr/>
        </p:nvSpPr>
        <p:spPr>
          <a:xfrm>
            <a:off x="4636008" y="152704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Team contribution</a:t>
            </a:r>
            <a:endParaRPr lang="en-US" sz="1500" dirty="0"/>
          </a:p>
        </p:txBody>
      </p:sp>
      <p:sp>
        <p:nvSpPr>
          <p:cNvPr id="11" name="Text 9"/>
          <p:cNvSpPr/>
          <p:nvPr/>
        </p:nvSpPr>
        <p:spPr>
          <a:xfrm>
            <a:off x="4636008" y="1892808"/>
            <a:ext cx="2935224" cy="2788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Cheki coordinated and documented. Sonam led front-end and UX. Subodh led back-end, database and security.</a:t>
            </a:r>
            <a:endParaRPr lang="en-US" sz="1250" dirty="0"/>
          </a:p>
        </p:txBody>
      </p:sp>
      <p:sp>
        <p:nvSpPr>
          <p:cNvPr id="12" name="Shape 10"/>
          <p:cNvSpPr/>
          <p:nvPr/>
        </p:nvSpPr>
        <p:spPr>
          <a:xfrm>
            <a:off x="8183880" y="1325880"/>
            <a:ext cx="3337560" cy="3520440"/>
          </a:xfrm>
          <a:prstGeom prst="roundRect">
            <a:avLst>
              <a:gd name="adj" fmla="val 3288"/>
            </a:avLst>
          </a:prstGeom>
          <a:solidFill>
            <a:srgbClr val="FFF8ED"/>
          </a:solidFill>
          <a:ln w="12700">
            <a:solidFill>
              <a:srgbClr val="F3D29B"/>
            </a:solidFill>
            <a:prstDash val="solid"/>
          </a:ln>
        </p:spPr>
      </p:sp>
      <p:sp>
        <p:nvSpPr>
          <p:cNvPr id="13" name="Text 11"/>
          <p:cNvSpPr/>
          <p:nvPr/>
        </p:nvSpPr>
        <p:spPr>
          <a:xfrm>
            <a:off x="8385048" y="1527048"/>
            <a:ext cx="2935224" cy="256032"/>
          </a:xfrm>
          <a:prstGeom prst="rect">
            <a:avLst/>
          </a:prstGeom>
          <a:noFill/>
          <a:ln/>
        </p:spPr>
        <p:txBody>
          <a:bodyPr wrap="square" lIns="0" tIns="0" rIns="0" bIns="0" rtlCol="0" anchor="ctr"/>
          <a:lstStyle/>
          <a:p>
            <a:pPr indent="0" marL="0">
              <a:buNone/>
            </a:pPr>
            <a:r>
              <a:rPr lang="en-US" sz="1500" b="1" dirty="0">
                <a:solidFill>
                  <a:srgbClr val="1F4E79"/>
                </a:solidFill>
              </a:rPr>
              <a:t>Submission package</a:t>
            </a:r>
            <a:endParaRPr lang="en-US" sz="1500" dirty="0"/>
          </a:p>
        </p:txBody>
      </p:sp>
      <p:sp>
        <p:nvSpPr>
          <p:cNvPr id="14" name="Text 12"/>
          <p:cNvSpPr/>
          <p:nvPr/>
        </p:nvSpPr>
        <p:spPr>
          <a:xfrm>
            <a:off x="8385048" y="1892808"/>
            <a:ext cx="2935224" cy="278892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GitHub repository, working app, database.sql, README, documentation pack, test evidence and presentation slides.</a:t>
            </a:r>
            <a:endParaRPr lang="en-US" sz="1250" dirty="0"/>
          </a:p>
        </p:txBody>
      </p:sp>
      <p:sp>
        <p:nvSpPr>
          <p:cNvPr id="15" name="Text 13"/>
          <p:cNvSpPr/>
          <p:nvPr/>
        </p:nvSpPr>
        <p:spPr>
          <a:xfrm>
            <a:off x="868680" y="5440680"/>
            <a:ext cx="2011680" cy="274320"/>
          </a:xfrm>
          <a:prstGeom prst="rect">
            <a:avLst/>
          </a:prstGeom>
          <a:noFill/>
          <a:ln/>
        </p:spPr>
        <p:txBody>
          <a:bodyPr wrap="square" lIns="0" tIns="0" rIns="0" bIns="0" rtlCol="0" anchor="ctr"/>
          <a:lstStyle/>
          <a:p>
            <a:pPr indent="0" marL="0">
              <a:buNone/>
            </a:pPr>
            <a:r>
              <a:rPr lang="en-US" sz="1600" b="1" dirty="0">
                <a:solidFill>
                  <a:srgbClr val="1F4E79"/>
                </a:solidFill>
              </a:rPr>
              <a:t>Final message</a:t>
            </a:r>
            <a:endParaRPr lang="en-US" sz="1600" dirty="0"/>
          </a:p>
        </p:txBody>
      </p:sp>
      <p:sp>
        <p:nvSpPr>
          <p:cNvPr id="16" name="Text 14"/>
          <p:cNvSpPr/>
          <p:nvPr/>
        </p:nvSpPr>
        <p:spPr>
          <a:xfrm>
            <a:off x="868680" y="5806440"/>
            <a:ext cx="10424160" cy="320040"/>
          </a:xfrm>
          <a:prstGeom prst="rect">
            <a:avLst/>
          </a:prstGeom>
          <a:noFill/>
          <a:ln/>
        </p:spPr>
        <p:txBody>
          <a:bodyPr wrap="square" lIns="0" tIns="0" rIns="0" bIns="0" rtlCol="0" anchor="ctr"/>
          <a:lstStyle/>
          <a:p>
            <a:pPr algn="ctr" indent="0" marL="0">
              <a:buNone/>
            </a:pPr>
            <a:r>
              <a:rPr lang="en-US" sz="2000" b="1" dirty="0">
                <a:solidFill>
                  <a:srgbClr val="1F2937"/>
                </a:solidFill>
              </a:rPr>
              <a:t>Smart Event Booking Pro demonstrates a secure, maintainable and responsible full-stack solution for local event booking.</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CIHE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Event Booking Pro</dc:title>
  <dc:subject>ICT203 Assessment 3</dc:subject>
  <dc:creator>Cheki Dorji, Sonam Dechen, Subodh Dhungel</dc:creator>
  <cp:lastModifiedBy>Cheki Dorji, Sonam Dechen, Subodh Dhungel</cp:lastModifiedBy>
  <cp:revision>1</cp:revision>
  <dcterms:created xsi:type="dcterms:W3CDTF">2026-05-28T08:47:21Z</dcterms:created>
  <dcterms:modified xsi:type="dcterms:W3CDTF">2026-05-28T08:47:21Z</dcterms:modified>
</cp:coreProperties>
</file>